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83a94875004a1c" /><Relationship Type="http://schemas.openxmlformats.org/officeDocument/2006/relationships/extended-properties" Target="/docProps/app.xml" Id="Rbc95f2382b7a4a92" /><Relationship Type="http://schemas.openxmlformats.org/officeDocument/2006/relationships/officeDocument" Target="/ppt/presentation.xml" Id="Rf4912ba3922641d1" /></Relationships>
</file>

<file path=ppt/presentation.xml><?xml version="1.0" encoding="utf-8"?>
<p:presentation xmlns:p="http://schemas.openxmlformats.org/presentationml/2006/main">
  <p:sldMasterIdLst>
    <p:sldMasterId xmlns:r="http://schemas.openxmlformats.org/officeDocument/2006/relationships" id="2147483648" r:id="Re903ff8c3c954b93"/>
  </p:sldMasterIdLst>
  <p:notesMasterIdLst>
    <p:notesMasterId xmlns:r="http://schemas.openxmlformats.org/officeDocument/2006/relationships" r:id="Rfbdf7f99fefe4082"/>
  </p:notesMasterIdLst>
  <p:sldIdLst>
    <p:sldId xmlns:r="http://schemas.openxmlformats.org/officeDocument/2006/relationships" id="256" r:id="R027ee3e18b0445f1"/>
    <p:sldId xmlns:r="http://schemas.openxmlformats.org/officeDocument/2006/relationships" id="257" r:id="R5ecc1add0d074c29"/>
    <p:sldId xmlns:r="http://schemas.openxmlformats.org/officeDocument/2006/relationships" id="258" r:id="R838e3b4cc673484d"/>
    <p:sldId xmlns:r="http://schemas.openxmlformats.org/officeDocument/2006/relationships" id="259" r:id="Re85c54f2e51a4599"/>
    <p:sldId xmlns:r="http://schemas.openxmlformats.org/officeDocument/2006/relationships" id="260" r:id="R3a573dbd20994fcd"/>
    <p:sldId xmlns:r="http://schemas.openxmlformats.org/officeDocument/2006/relationships" id="261" r:id="Rb686c88aad7c42e1"/>
    <p:sldId xmlns:r="http://schemas.openxmlformats.org/officeDocument/2006/relationships" id="262" r:id="R4d97219122a1452f"/>
    <p:sldId xmlns:r="http://schemas.openxmlformats.org/officeDocument/2006/relationships" id="263" r:id="R1fecf34b22274217"/>
    <p:sldId xmlns:r="http://schemas.openxmlformats.org/officeDocument/2006/relationships" id="264" r:id="R9e41bf84f3024475"/>
    <p:sldId xmlns:r="http://schemas.openxmlformats.org/officeDocument/2006/relationships" id="265" r:id="Rc333cf55250c422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d3abcafaf14dfb" /><Relationship Type="http://schemas.openxmlformats.org/officeDocument/2006/relationships/slideMaster" Target="/ppt/slideMasters/slideMaster1.xml" Id="Re903ff8c3c954b93" /><Relationship Type="http://schemas.openxmlformats.org/officeDocument/2006/relationships/notesMaster" Target="/ppt/notesMasters/notesMaster1.xml" Id="Rfbdf7f99fefe4082" /><Relationship Type="http://schemas.openxmlformats.org/officeDocument/2006/relationships/presProps" Target="/ppt/presProps.xml" Id="Rb72817678a8044f9" /><Relationship Type="http://schemas.openxmlformats.org/officeDocument/2006/relationships/tableStyles" Target="/ppt/tableStyles.xml" Id="Rc3681b0c48bf4ddf" /><Relationship Type="http://schemas.openxmlformats.org/officeDocument/2006/relationships/slide" Target="/ppt/slides/slide1.xml" Id="R027ee3e18b0445f1" /><Relationship Type="http://schemas.openxmlformats.org/officeDocument/2006/relationships/slide" Target="/ppt/slides/slide2.xml" Id="R5ecc1add0d074c29" /><Relationship Type="http://schemas.openxmlformats.org/officeDocument/2006/relationships/slide" Target="/ppt/slides/slide3.xml" Id="R838e3b4cc673484d" /><Relationship Type="http://schemas.openxmlformats.org/officeDocument/2006/relationships/slide" Target="/ppt/slides/slide4.xml" Id="Re85c54f2e51a4599" /><Relationship Type="http://schemas.openxmlformats.org/officeDocument/2006/relationships/slide" Target="/ppt/slides/slide5.xml" Id="R3a573dbd20994fcd" /><Relationship Type="http://schemas.openxmlformats.org/officeDocument/2006/relationships/slide" Target="/ppt/slides/slide6.xml" Id="Rb686c88aad7c42e1" /><Relationship Type="http://schemas.openxmlformats.org/officeDocument/2006/relationships/slide" Target="/ppt/slides/slide7.xml" Id="R4d97219122a1452f" /><Relationship Type="http://schemas.openxmlformats.org/officeDocument/2006/relationships/slide" Target="/ppt/slides/slide8.xml" Id="R1fecf34b22274217" /><Relationship Type="http://schemas.openxmlformats.org/officeDocument/2006/relationships/slide" Target="/ppt/slides/slide9.xml" Id="R9e41bf84f3024475" /><Relationship Type="http://schemas.openxmlformats.org/officeDocument/2006/relationships/slide" Target="/ppt/slides/slide10.xml" Id="Rc333cf55250c42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10d72ff90c43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9e3cdfcd0e4aa1" /><Relationship Type="http://schemas.openxmlformats.org/officeDocument/2006/relationships/notesMaster" Target="/ppt/notesMasters/notesMaster1.xml" Id="R89d425ae492b4d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4565bc32604307" /><Relationship Type="http://schemas.openxmlformats.org/officeDocument/2006/relationships/notesMaster" Target="/ppt/notesMasters/notesMaster1.xml" Id="R1ee75bab4f5d4d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f667fe00024efa" /><Relationship Type="http://schemas.openxmlformats.org/officeDocument/2006/relationships/notesMaster" Target="/ppt/notesMasters/notesMaster1.xml" Id="R187843d8deef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2babea5f5243c6" /><Relationship Type="http://schemas.openxmlformats.org/officeDocument/2006/relationships/notesMaster" Target="/ppt/notesMasters/notesMaster1.xml" Id="R59ace3c12f7942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36ef6e0ae1408a" /><Relationship Type="http://schemas.openxmlformats.org/officeDocument/2006/relationships/notesMaster" Target="/ppt/notesMasters/notesMaster1.xml" Id="Rca3fe8fd3fe34f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d355a61197c4777" /><Relationship Type="http://schemas.openxmlformats.org/officeDocument/2006/relationships/notesMaster" Target="/ppt/notesMasters/notesMaster1.xml" Id="R4fb20ffe5dd745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36c12ad92f8455f" /><Relationship Type="http://schemas.openxmlformats.org/officeDocument/2006/relationships/notesMaster" Target="/ppt/notesMasters/notesMaster1.xml" Id="R513f95283fe74d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c9e530b80546a2" /><Relationship Type="http://schemas.openxmlformats.org/officeDocument/2006/relationships/notesMaster" Target="/ppt/notesMasters/notesMaster1.xml" Id="R15b4240869d547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7f2ec21f694e92" /><Relationship Type="http://schemas.openxmlformats.org/officeDocument/2006/relationships/notesMaster" Target="/ppt/notesMasters/notesMaster1.xml" Id="R8fd029fb1bd149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5a9843c0324939" /><Relationship Type="http://schemas.openxmlformats.org/officeDocument/2006/relationships/notesMaster" Target="/ppt/notesMasters/notesMaster1.xml" Id="R363fb1dcee7247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 We are Krutaya Komanda: Ernest Kudakaev, Albert Arselgov and Nikita Khripunkov. Our Project D will be a dynamically typed language interpreted by a Java implementation. We present the design and examples that define expected behavior before implementation.</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 Source language: Project D. Implementation language: Java. Both lexer and recursive-descent parser are hand-written. The lexer creates tokens, the parser builds an AST, semantic checks validate structural rules, and the interpreter evaluates the AST to obtain runtime results. We generate no machine code. The declaration example contains a binary expression with integer literal children. The AST and linked lexical environments are our planned internal representation.</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 Variables have no fixed type. Values have runtime kinds. Reassigning an integer variable to a string or boolean is valid. Planned values are integer, real, boolean, string, array, tuple and function. Control flow includes if, while and return, with input and output built-ins. Dynamic typing still requires operators to validate operand kinds at runtime.</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var distinguishes declaration from assignment. Braces and semicolons provide clear boundaries for a hand-written parser. We allow integer-to-real promotion and conversion to text for concatenation when a string is an operand. We reject boolean arithmetic and string subtraction. Semantic validation can reject return outside a function or invalid assignment targets before execution. Tuple-element writes are checked at runtime when the actual indexed value is known. Tuple immutability concerns its elements; deep immutability is not specified.</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Program 1 declares and prints each primitive value. Program 2 prints values of different kinds through the same variable. Program 3 adds integer 10 to real 2.5 and prints 12.5, then converts the result to text for concatenation. These are complete independent programs; each expected output line corresponds to one print call.</a:t>
            </a:r>
          </a:p>
          <a:p xmlns:a="http://schemas.openxmlformats.org/drawingml/2006/main">
            <a:r>
              <a:t/>
            </a:r>
          </a:p>
          <a:p xmlns:a="http://schemas.openxmlformats.org/drawingml/2006/main">
            <a:r>
              <a:t>Program 1: Literals</a:t>
            </a:r>
          </a:p>
          <a:p xmlns:a="http://schemas.openxmlformats.org/drawingml/2006/main">
            <a:r>
              <a:t>var name = "Alice";</a:t>
            </a:r>
          </a:p>
          <a:p xmlns:a="http://schemas.openxmlformats.org/drawingml/2006/main">
            <a:r>
              <a:t>var age = 20;</a:t>
            </a:r>
          </a:p>
          <a:p xmlns:a="http://schemas.openxmlformats.org/drawingml/2006/main">
            <a:r>
              <a:t>var height = 1.72;</a:t>
            </a:r>
          </a:p>
          <a:p xmlns:a="http://schemas.openxmlformats.org/drawingml/2006/main">
            <a:r>
              <a:t>var student = true;</a:t>
            </a:r>
          </a:p>
          <a:p xmlns:a="http://schemas.openxmlformats.org/drawingml/2006/main">
            <a:r>
              <a:t>print(name);</a:t>
            </a:r>
          </a:p>
          <a:p xmlns:a="http://schemas.openxmlformats.org/drawingml/2006/main">
            <a:r>
              <a:t>print(age);</a:t>
            </a:r>
          </a:p>
          <a:p xmlns:a="http://schemas.openxmlformats.org/drawingml/2006/main">
            <a:r>
              <a:t>print(height);</a:t>
            </a:r>
          </a:p>
          <a:p xmlns:a="http://schemas.openxmlformats.org/drawingml/2006/main">
            <a:r>
              <a:t>print(student);</a:t>
            </a:r>
          </a:p>
          <a:p xmlns:a="http://schemas.openxmlformats.org/drawingml/2006/main">
            <a:r>
              <a:t/>
            </a:r>
          </a:p>
          <a:p xmlns:a="http://schemas.openxmlformats.org/drawingml/2006/main">
            <a:r>
              <a:t>Expected output:</a:t>
            </a:r>
          </a:p>
          <a:p xmlns:a="http://schemas.openxmlformats.org/drawingml/2006/main">
            <a:r>
              <a:t>Alice</a:t>
            </a:r>
          </a:p>
          <a:p xmlns:a="http://schemas.openxmlformats.org/drawingml/2006/main">
            <a:r>
              <a:t>20</a:t>
            </a:r>
          </a:p>
          <a:p xmlns:a="http://schemas.openxmlformats.org/drawingml/2006/main">
            <a:r>
              <a:t>1.72</a:t>
            </a:r>
          </a:p>
          <a:p xmlns:a="http://schemas.openxmlformats.org/drawingml/2006/main">
            <a:r>
              <a:t>true</a:t>
            </a:r>
          </a:p>
          <a:p xmlns:a="http://schemas.openxmlformats.org/drawingml/2006/main">
            <a:r>
              <a:t/>
            </a:r>
          </a:p>
          <a:p xmlns:a="http://schemas.openxmlformats.org/drawingml/2006/main">
            <a:r>
              <a:t>Program 2: Dynamic typing</a:t>
            </a:r>
          </a:p>
          <a:p xmlns:a="http://schemas.openxmlformats.org/drawingml/2006/main">
            <a:r>
              <a:t>var value = 10;</a:t>
            </a:r>
          </a:p>
          <a:p xmlns:a="http://schemas.openxmlformats.org/drawingml/2006/main">
            <a:r>
              <a:t>print(value);</a:t>
            </a:r>
          </a:p>
          <a:p xmlns:a="http://schemas.openxmlformats.org/drawingml/2006/main">
            <a:r>
              <a:t>value = "hello";</a:t>
            </a:r>
          </a:p>
          <a:p xmlns:a="http://schemas.openxmlformats.org/drawingml/2006/main">
            <a:r>
              <a:t>print(value);</a:t>
            </a:r>
          </a:p>
          <a:p xmlns:a="http://schemas.openxmlformats.org/drawingml/2006/main">
            <a:r>
              <a:t>value = true;</a:t>
            </a:r>
          </a:p>
          <a:p xmlns:a="http://schemas.openxmlformats.org/drawingml/2006/main">
            <a:r>
              <a:t>print(value);</a:t>
            </a:r>
          </a:p>
          <a:p xmlns:a="http://schemas.openxmlformats.org/drawingml/2006/main">
            <a:r>
              <a:t/>
            </a:r>
          </a:p>
          <a:p xmlns:a="http://schemas.openxmlformats.org/drawingml/2006/main">
            <a:r>
              <a:t>Expected output:</a:t>
            </a:r>
          </a:p>
          <a:p xmlns:a="http://schemas.openxmlformats.org/drawingml/2006/main">
            <a:r>
              <a:t>10</a:t>
            </a:r>
          </a:p>
          <a:p xmlns:a="http://schemas.openxmlformats.org/drawingml/2006/main">
            <a:r>
              <a:t>hello</a:t>
            </a:r>
          </a:p>
          <a:p xmlns:a="http://schemas.openxmlformats.org/drawingml/2006/main">
            <a:r>
              <a:t>true</a:t>
            </a:r>
          </a:p>
          <a:p xmlns:a="http://schemas.openxmlformats.org/drawingml/2006/main">
            <a:r>
              <a:t/>
            </a:r>
          </a:p>
          <a:p xmlns:a="http://schemas.openxmlformats.org/drawingml/2006/main">
            <a:r>
              <a:t>Program 3: Conversions</a:t>
            </a:r>
          </a:p>
          <a:p xmlns:a="http://schemas.openxmlformats.org/drawingml/2006/main">
            <a:r>
              <a:t>var a = 10;</a:t>
            </a:r>
          </a:p>
          <a:p xmlns:a="http://schemas.openxmlformats.org/drawingml/2006/main">
            <a:r>
              <a:t>var b = 2.5;</a:t>
            </a:r>
          </a:p>
          <a:p xmlns:a="http://schemas.openxmlformats.org/drawingml/2006/main">
            <a:r>
              <a:t>var result = a + b;</a:t>
            </a:r>
          </a:p>
          <a:p xmlns:a="http://schemas.openxmlformats.org/drawingml/2006/main">
            <a:r>
              <a:t>print(result);</a:t>
            </a:r>
          </a:p>
          <a:p xmlns:a="http://schemas.openxmlformats.org/drawingml/2006/main">
            <a:r>
              <a:t>print("Result: " + result);</a:t>
            </a:r>
          </a:p>
          <a:p xmlns:a="http://schemas.openxmlformats.org/drawingml/2006/main">
            <a:r>
              <a:t/>
            </a:r>
          </a:p>
          <a:p xmlns:a="http://schemas.openxmlformats.org/drawingml/2006/main">
            <a:r>
              <a:t>Expected output:</a:t>
            </a:r>
          </a:p>
          <a:p xmlns:a="http://schemas.openxmlformats.org/drawingml/2006/main">
            <a:r>
              <a:t>12.5</a:t>
            </a:r>
          </a:p>
          <a:p xmlns:a="http://schemas.openxmlformats.org/drawingml/2006/main">
            <a:r>
              <a:t>Result: 12.5</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 Program 4 checks score 75 against 60 and prints passed. Program 5 computes factorial iteratively: result accumulates the product as n decreases from 5 to 1, producing 120. The examples define the expected control-flow behavior.</a:t>
            </a:r>
          </a:p>
          <a:p xmlns:a="http://schemas.openxmlformats.org/drawingml/2006/main">
            <a:r>
              <a:t/>
            </a:r>
          </a:p>
          <a:p xmlns:a="http://schemas.openxmlformats.org/drawingml/2006/main">
            <a:r>
              <a:t>Program 4: Conditions</a:t>
            </a:r>
          </a:p>
          <a:p xmlns:a="http://schemas.openxmlformats.org/drawingml/2006/main">
            <a:r>
              <a:t>var score = 75;</a:t>
            </a:r>
          </a:p>
          <a:p xmlns:a="http://schemas.openxmlformats.org/drawingml/2006/main">
            <a:r>
              <a:t>if (score &gt;= 60) {</a:t>
            </a:r>
          </a:p>
          <a:p xmlns:a="http://schemas.openxmlformats.org/drawingml/2006/main">
            <a:r>
              <a:t>    print("passed");</a:t>
            </a:r>
          </a:p>
          <a:p xmlns:a="http://schemas.openxmlformats.org/drawingml/2006/main">
            <a:r>
              <a:t>} else {</a:t>
            </a:r>
          </a:p>
          <a:p xmlns:a="http://schemas.openxmlformats.org/drawingml/2006/main">
            <a:r>
              <a:t>    print("failed");</a:t>
            </a:r>
          </a:p>
          <a:p xmlns:a="http://schemas.openxmlformats.org/drawingml/2006/main">
            <a:r>
              <a:t>}</a:t>
            </a:r>
          </a:p>
          <a:p xmlns:a="http://schemas.openxmlformats.org/drawingml/2006/main">
            <a:r>
              <a:t/>
            </a:r>
          </a:p>
          <a:p xmlns:a="http://schemas.openxmlformats.org/drawingml/2006/main">
            <a:r>
              <a:t>Expected output:</a:t>
            </a:r>
          </a:p>
          <a:p xmlns:a="http://schemas.openxmlformats.org/drawingml/2006/main">
            <a:r>
              <a:t>passed</a:t>
            </a:r>
          </a:p>
          <a:p xmlns:a="http://schemas.openxmlformats.org/drawingml/2006/main">
            <a:r>
              <a:t/>
            </a:r>
          </a:p>
          <a:p xmlns:a="http://schemas.openxmlformats.org/drawingml/2006/main">
            <a:r>
              <a:t>Program 5: Factorial loop</a:t>
            </a:r>
          </a:p>
          <a:p xmlns:a="http://schemas.openxmlformats.org/drawingml/2006/main">
            <a:r>
              <a:t>var n = 5;</a:t>
            </a:r>
          </a:p>
          <a:p xmlns:a="http://schemas.openxmlformats.org/drawingml/2006/main">
            <a:r>
              <a:t>var result = 1;</a:t>
            </a:r>
          </a:p>
          <a:p xmlns:a="http://schemas.openxmlformats.org/drawingml/2006/main">
            <a:r>
              <a:t>while (n &gt; 1) {</a:t>
            </a:r>
          </a:p>
          <a:p xmlns:a="http://schemas.openxmlformats.org/drawingml/2006/main">
            <a:r>
              <a:t>    result = result * n;</a:t>
            </a:r>
          </a:p>
          <a:p xmlns:a="http://schemas.openxmlformats.org/drawingml/2006/main">
            <a:r>
              <a:t>    n = n - 1;</a:t>
            </a:r>
          </a:p>
          <a:p xmlns:a="http://schemas.openxmlformats.org/drawingml/2006/main">
            <a:r>
              <a:t>}</a:t>
            </a:r>
          </a:p>
          <a:p xmlns:a="http://schemas.openxmlformats.org/drawingml/2006/main">
            <a:r>
              <a:t>print(result);</a:t>
            </a:r>
          </a:p>
          <a:p xmlns:a="http://schemas.openxmlformats.org/drawingml/2006/main">
            <a:r>
              <a:t/>
            </a:r>
          </a:p>
          <a:p xmlns:a="http://schemas.openxmlformats.org/drawingml/2006/main">
            <a:r>
              <a:t>Expected output:</a:t>
            </a:r>
          </a:p>
          <a:p xmlns:a="http://schemas.openxmlformats.org/drawingml/2006/main">
            <a:r>
              <a:t>120</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Program 6 updates array index 1 from 20 to 100, yielding 10, 100 and 30. Program 7 contains integer, string, boolean and real values in the same array. Program 8 reads tuple elements and prints Alex, 21 and true. Indexing is zero-based. Tuple indexed assignment such as user[0] = "John" must raise a runtime error. The valid tuple sample itself only reads elements.</a:t>
            </a:r>
          </a:p>
          <a:p xmlns:a="http://schemas.openxmlformats.org/drawingml/2006/main">
            <a:r>
              <a:t/>
            </a:r>
          </a:p>
          <a:p xmlns:a="http://schemas.openxmlformats.org/drawingml/2006/main">
            <a:r>
              <a:t>Program 6: Mutable array</a:t>
            </a:r>
          </a:p>
          <a:p xmlns:a="http://schemas.openxmlformats.org/drawingml/2006/main">
            <a:r>
              <a:t>var numbers = [10, 20, 30];</a:t>
            </a:r>
          </a:p>
          <a:p xmlns:a="http://schemas.openxmlformats.org/drawingml/2006/main">
            <a:r>
              <a:t/>
            </a:r>
          </a:p>
          <a:p xmlns:a="http://schemas.openxmlformats.org/drawingml/2006/main">
            <a:r>
              <a:t>numbers[1] = 100;</a:t>
            </a:r>
          </a:p>
          <a:p xmlns:a="http://schemas.openxmlformats.org/drawingml/2006/main">
            <a:r>
              <a:t/>
            </a:r>
          </a:p>
          <a:p xmlns:a="http://schemas.openxmlformats.org/drawingml/2006/main">
            <a:r>
              <a:t>print(numbers[0]);</a:t>
            </a:r>
          </a:p>
          <a:p xmlns:a="http://schemas.openxmlformats.org/drawingml/2006/main">
            <a:r>
              <a:t>print(numbers[1]);</a:t>
            </a:r>
          </a:p>
          <a:p xmlns:a="http://schemas.openxmlformats.org/drawingml/2006/main">
            <a:r>
              <a:t>print(numbers[2]);</a:t>
            </a:r>
          </a:p>
          <a:p xmlns:a="http://schemas.openxmlformats.org/drawingml/2006/main">
            <a:r>
              <a:t/>
            </a:r>
          </a:p>
          <a:p xmlns:a="http://schemas.openxmlformats.org/drawingml/2006/main">
            <a:r>
              <a:t>Expected output:</a:t>
            </a:r>
          </a:p>
          <a:p xmlns:a="http://schemas.openxmlformats.org/drawingml/2006/main">
            <a:r>
              <a:t>10</a:t>
            </a:r>
          </a:p>
          <a:p xmlns:a="http://schemas.openxmlformats.org/drawingml/2006/main">
            <a:r>
              <a:t>100</a:t>
            </a:r>
          </a:p>
          <a:p xmlns:a="http://schemas.openxmlformats.org/drawingml/2006/main">
            <a:r>
              <a:t>30</a:t>
            </a:r>
          </a:p>
          <a:p xmlns:a="http://schemas.openxmlformats.org/drawingml/2006/main">
            <a:r>
              <a:t/>
            </a:r>
          </a:p>
          <a:p xmlns:a="http://schemas.openxmlformats.org/drawingml/2006/main">
            <a:r>
              <a:t>Program 7: Mixed array</a:t>
            </a:r>
          </a:p>
          <a:p xmlns:a="http://schemas.openxmlformats.org/drawingml/2006/main">
            <a:r>
              <a:t>var values = [</a:t>
            </a:r>
          </a:p>
          <a:p xmlns:a="http://schemas.openxmlformats.org/drawingml/2006/main">
            <a:r>
              <a:t>    10, "hello", true, 3.14</a:t>
            </a:r>
          </a:p>
          <a:p xmlns:a="http://schemas.openxmlformats.org/drawingml/2006/main">
            <a:r>
              <a:t>];</a:t>
            </a:r>
          </a:p>
          <a:p xmlns:a="http://schemas.openxmlformats.org/drawingml/2006/main">
            <a:r>
              <a:t/>
            </a:r>
          </a:p>
          <a:p xmlns:a="http://schemas.openxmlformats.org/drawingml/2006/main">
            <a:r>
              <a:t>print(values[0]);</a:t>
            </a:r>
          </a:p>
          <a:p xmlns:a="http://schemas.openxmlformats.org/drawingml/2006/main">
            <a:r>
              <a:t>print(values[1]);</a:t>
            </a:r>
          </a:p>
          <a:p xmlns:a="http://schemas.openxmlformats.org/drawingml/2006/main">
            <a:r>
              <a:t>print(values[2]);</a:t>
            </a:r>
          </a:p>
          <a:p xmlns:a="http://schemas.openxmlformats.org/drawingml/2006/main">
            <a:r>
              <a:t>print(values[3]);</a:t>
            </a:r>
          </a:p>
          <a:p xmlns:a="http://schemas.openxmlformats.org/drawingml/2006/main">
            <a:r>
              <a:t/>
            </a:r>
          </a:p>
          <a:p xmlns:a="http://schemas.openxmlformats.org/drawingml/2006/main">
            <a:r>
              <a:t>Expected output:</a:t>
            </a:r>
          </a:p>
          <a:p xmlns:a="http://schemas.openxmlformats.org/drawingml/2006/main">
            <a:r>
              <a:t>10</a:t>
            </a:r>
          </a:p>
          <a:p xmlns:a="http://schemas.openxmlformats.org/drawingml/2006/main">
            <a:r>
              <a:t>hello</a:t>
            </a:r>
          </a:p>
          <a:p xmlns:a="http://schemas.openxmlformats.org/drawingml/2006/main">
            <a:r>
              <a:t>true</a:t>
            </a:r>
          </a:p>
          <a:p xmlns:a="http://schemas.openxmlformats.org/drawingml/2006/main">
            <a:r>
              <a:t>3.14</a:t>
            </a:r>
          </a:p>
          <a:p xmlns:a="http://schemas.openxmlformats.org/drawingml/2006/main">
            <a:r>
              <a:t/>
            </a:r>
          </a:p>
          <a:p xmlns:a="http://schemas.openxmlformats.org/drawingml/2006/main">
            <a:r>
              <a:t>Program 8: Tuple</a:t>
            </a:r>
          </a:p>
          <a:p xmlns:a="http://schemas.openxmlformats.org/drawingml/2006/main">
            <a:r>
              <a:t>var user = (</a:t>
            </a:r>
          </a:p>
          <a:p xmlns:a="http://schemas.openxmlformats.org/drawingml/2006/main">
            <a:r>
              <a:t>    "Alex", 21, true</a:t>
            </a:r>
          </a:p>
          <a:p xmlns:a="http://schemas.openxmlformats.org/drawingml/2006/main">
            <a:r>
              <a:t>);</a:t>
            </a:r>
          </a:p>
          <a:p xmlns:a="http://schemas.openxmlformats.org/drawingml/2006/main">
            <a:r>
              <a:t/>
            </a:r>
          </a:p>
          <a:p xmlns:a="http://schemas.openxmlformats.org/drawingml/2006/main">
            <a:r>
              <a:t>print(user[0]);</a:t>
            </a:r>
          </a:p>
          <a:p xmlns:a="http://schemas.openxmlformats.org/drawingml/2006/main">
            <a:r>
              <a:t>print(user[1]);</a:t>
            </a:r>
          </a:p>
          <a:p xmlns:a="http://schemas.openxmlformats.org/drawingml/2006/main">
            <a:r>
              <a:t>print(user[2]);</a:t>
            </a:r>
          </a:p>
          <a:p xmlns:a="http://schemas.openxmlformats.org/drawingml/2006/main">
            <a:r>
              <a:t/>
            </a:r>
          </a:p>
          <a:p xmlns:a="http://schemas.openxmlformats.org/drawingml/2006/main">
            <a:r>
              <a:t>Expected output:</a:t>
            </a:r>
          </a:p>
          <a:p xmlns:a="http://schemas.openxmlformats.org/drawingml/2006/main">
            <a:r>
              <a:t>Alex</a:t>
            </a:r>
          </a:p>
          <a:p xmlns:a="http://schemas.openxmlformats.org/drawingml/2006/main">
            <a:r>
              <a:t>21</a:t>
            </a:r>
          </a:p>
          <a:p xmlns:a="http://schemas.openxmlformats.org/drawingml/2006/main">
            <a:r>
              <a:t>true</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 Program 9 defines max, compares two arguments, returns the larger one and prints 20. Program 10 defines factorial recursively, uses n &lt;= 1 as the base case and prints 120 for argument 5. Each example contains its complete function definition and call. Compare the recursive implementation with the iterative program 5.</a:t>
            </a:r>
          </a:p>
          <a:p xmlns:a="http://schemas.openxmlformats.org/drawingml/2006/main">
            <a:r>
              <a:t/>
            </a:r>
          </a:p>
          <a:p xmlns:a="http://schemas.openxmlformats.org/drawingml/2006/main">
            <a:r>
              <a:t>Program 9: Named function</a:t>
            </a:r>
          </a:p>
          <a:p xmlns:a="http://schemas.openxmlformats.org/drawingml/2006/main">
            <a:r>
              <a:t>fun max(a, b) {</a:t>
            </a:r>
          </a:p>
          <a:p xmlns:a="http://schemas.openxmlformats.org/drawingml/2006/main">
            <a:r>
              <a:t>    if (a &gt; b) {</a:t>
            </a:r>
          </a:p>
          <a:p xmlns:a="http://schemas.openxmlformats.org/drawingml/2006/main">
            <a:r>
              <a:t>        return a;</a:t>
            </a:r>
          </a:p>
          <a:p xmlns:a="http://schemas.openxmlformats.org/drawingml/2006/main">
            <a:r>
              <a:t>    }</a:t>
            </a:r>
          </a:p>
          <a:p xmlns:a="http://schemas.openxmlformats.org/drawingml/2006/main">
            <a:r>
              <a:t>    return b;</a:t>
            </a:r>
          </a:p>
          <a:p xmlns:a="http://schemas.openxmlformats.org/drawingml/2006/main">
            <a:r>
              <a:t>}</a:t>
            </a:r>
          </a:p>
          <a:p xmlns:a="http://schemas.openxmlformats.org/drawingml/2006/main">
            <a:r>
              <a:t>print(max(10, 20));</a:t>
            </a:r>
          </a:p>
          <a:p xmlns:a="http://schemas.openxmlformats.org/drawingml/2006/main">
            <a:r>
              <a:t/>
            </a:r>
          </a:p>
          <a:p xmlns:a="http://schemas.openxmlformats.org/drawingml/2006/main">
            <a:r>
              <a:t>Expected output:</a:t>
            </a:r>
          </a:p>
          <a:p xmlns:a="http://schemas.openxmlformats.org/drawingml/2006/main">
            <a:r>
              <a:t>20</a:t>
            </a:r>
          </a:p>
          <a:p xmlns:a="http://schemas.openxmlformats.org/drawingml/2006/main">
            <a:r>
              <a:t/>
            </a:r>
          </a:p>
          <a:p xmlns:a="http://schemas.openxmlformats.org/drawingml/2006/main">
            <a:r>
              <a:t>Program 10: Recursion</a:t>
            </a:r>
          </a:p>
          <a:p xmlns:a="http://schemas.openxmlformats.org/drawingml/2006/main">
            <a:r>
              <a:t>fun factorial(n) {</a:t>
            </a:r>
          </a:p>
          <a:p xmlns:a="http://schemas.openxmlformats.org/drawingml/2006/main">
            <a:r>
              <a:t>    if (n &lt;= 1) {</a:t>
            </a:r>
          </a:p>
          <a:p xmlns:a="http://schemas.openxmlformats.org/drawingml/2006/main">
            <a:r>
              <a:t>        return 1;</a:t>
            </a:r>
          </a:p>
          <a:p xmlns:a="http://schemas.openxmlformats.org/drawingml/2006/main">
            <a:r>
              <a:t>    }</a:t>
            </a:r>
          </a:p>
          <a:p xmlns:a="http://schemas.openxmlformats.org/drawingml/2006/main">
            <a:r>
              <a:t>    return n * factorial(n - 1);</a:t>
            </a:r>
          </a:p>
          <a:p xmlns:a="http://schemas.openxmlformats.org/drawingml/2006/main">
            <a:r>
              <a:t>}</a:t>
            </a:r>
          </a:p>
          <a:p xmlns:a="http://schemas.openxmlformats.org/drawingml/2006/main">
            <a:r>
              <a:t>print(factorial(5));</a:t>
            </a:r>
          </a:p>
          <a:p xmlns:a="http://schemas.openxmlformats.org/drawingml/2006/main">
            <a:r>
              <a:t/>
            </a:r>
          </a:p>
          <a:p xmlns:a="http://schemas.openxmlformats.org/drawingml/2006/main">
            <a:r>
              <a:t>Expected output:</a:t>
            </a:r>
          </a:p>
          <a:p xmlns:a="http://schemas.openxmlformats.org/drawingml/2006/main">
            <a:r>
              <a:t>120</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90 seconds. Program 11 assigns an anonymous lambda to square, then prints 25 and 100. Program 12 demonstrates real captures. Each makeAdder call creates a different lexical environment: x is 10 in the first call and 100 in the second. The returned lambdas retain access to their defining environments after makeAdder returns. Calling each with y = 5 produces 15 and 105. A closure is a function together with its captured lexical environment. The diagram on the left describes add10 from program 12.</a:t>
            </a:r>
          </a:p>
          <a:p xmlns:a="http://schemas.openxmlformats.org/drawingml/2006/main">
            <a:r>
              <a:t/>
            </a:r>
          </a:p>
          <a:p xmlns:a="http://schemas.openxmlformats.org/drawingml/2006/main">
            <a:r>
              <a:t>Program 11: Lambda</a:t>
            </a:r>
          </a:p>
          <a:p xmlns:a="http://schemas.openxmlformats.org/drawingml/2006/main">
            <a:r>
              <a:t>var square = lambda(x) =&gt; x * x;</a:t>
            </a:r>
          </a:p>
          <a:p xmlns:a="http://schemas.openxmlformats.org/drawingml/2006/main">
            <a:r>
              <a:t>print(square(5));</a:t>
            </a:r>
          </a:p>
          <a:p xmlns:a="http://schemas.openxmlformats.org/drawingml/2006/main">
            <a:r>
              <a:t>print(square(10));</a:t>
            </a:r>
          </a:p>
          <a:p xmlns:a="http://schemas.openxmlformats.org/drawingml/2006/main">
            <a:r>
              <a:t/>
            </a:r>
          </a:p>
          <a:p xmlns:a="http://schemas.openxmlformats.org/drawingml/2006/main">
            <a:r>
              <a:t>Expected output:</a:t>
            </a:r>
          </a:p>
          <a:p xmlns:a="http://schemas.openxmlformats.org/drawingml/2006/main">
            <a:r>
              <a:t>25</a:t>
            </a:r>
          </a:p>
          <a:p xmlns:a="http://schemas.openxmlformats.org/drawingml/2006/main">
            <a:r>
              <a:t>100</a:t>
            </a:r>
          </a:p>
          <a:p xmlns:a="http://schemas.openxmlformats.org/drawingml/2006/main">
            <a:r>
              <a:t/>
            </a:r>
          </a:p>
          <a:p xmlns:a="http://schemas.openxmlformats.org/drawingml/2006/main">
            <a:r>
              <a:t>Program 12: Closure</a:t>
            </a:r>
          </a:p>
          <a:p xmlns:a="http://schemas.openxmlformats.org/drawingml/2006/main">
            <a:r>
              <a:t>fun makeAdder(x) {</a:t>
            </a:r>
          </a:p>
          <a:p xmlns:a="http://schemas.openxmlformats.org/drawingml/2006/main">
            <a:r>
              <a:t>    return lambda(y) =&gt; x + y;</a:t>
            </a:r>
          </a:p>
          <a:p xmlns:a="http://schemas.openxmlformats.org/drawingml/2006/main">
            <a:r>
              <a:t>}</a:t>
            </a:r>
          </a:p>
          <a:p xmlns:a="http://schemas.openxmlformats.org/drawingml/2006/main">
            <a:r>
              <a:t>var add10 = makeAdder(10);</a:t>
            </a:r>
          </a:p>
          <a:p xmlns:a="http://schemas.openxmlformats.org/drawingml/2006/main">
            <a:r>
              <a:t>var add100 = makeAdder(100);</a:t>
            </a:r>
          </a:p>
          <a:p xmlns:a="http://schemas.openxmlformats.org/drawingml/2006/main">
            <a:r>
              <a:t>print(add10(5));</a:t>
            </a:r>
          </a:p>
          <a:p xmlns:a="http://schemas.openxmlformats.org/drawingml/2006/main">
            <a:r>
              <a:t>print(add100(5));</a:t>
            </a:r>
          </a:p>
          <a:p xmlns:a="http://schemas.openxmlformats.org/drawingml/2006/main">
            <a:r>
              <a:t/>
            </a:r>
          </a:p>
          <a:p xmlns:a="http://schemas.openxmlformats.org/drawingml/2006/main">
            <a:r>
              <a:t>Expected output:</a:t>
            </a:r>
          </a:p>
          <a:p xmlns:a="http://schemas.openxmlformats.org/drawingml/2006/main">
            <a:r>
              <a:t>15</a:t>
            </a:r>
          </a:p>
          <a:p xmlns:a="http://schemas.openxmlformats.org/drawingml/2006/main">
            <a:r>
              <a:t>105</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Program 13 first prints the prompt, reads Alice with input(), and then prints Hello, Alice. The input line is shown separately from program output. Program 14 defines add, assigns that function value to operation and calls through the variable, returning 10. Our 14 independent examples cover primitive and composite values, dynamic typing, conversions, control flow, recursion, lambdas and captures. The next step is implementing the interpreter and using these examples as acceptance specifications. Total planned time: 8 minutes 55 seconds.</a:t>
            </a:r>
          </a:p>
          <a:p xmlns:a="http://schemas.openxmlformats.org/drawingml/2006/main">
            <a:r>
              <a:t/>
            </a:r>
          </a:p>
          <a:p xmlns:a="http://schemas.openxmlformats.org/drawingml/2006/main">
            <a:r>
              <a:t>Program 13: Input and output</a:t>
            </a:r>
          </a:p>
          <a:p xmlns:a="http://schemas.openxmlformats.org/drawingml/2006/main">
            <a:r>
              <a:t>print("Enter your name:");</a:t>
            </a:r>
          </a:p>
          <a:p xmlns:a="http://schemas.openxmlformats.org/drawingml/2006/main">
            <a:r>
              <a:t>var name = input();</a:t>
            </a:r>
          </a:p>
          <a:p xmlns:a="http://schemas.openxmlformats.org/drawingml/2006/main">
            <a:r>
              <a:t>print("Hello, " + name);</a:t>
            </a:r>
          </a:p>
          <a:p xmlns:a="http://schemas.openxmlformats.org/drawingml/2006/main">
            <a:r>
              <a:t/>
            </a:r>
          </a:p>
          <a:p xmlns:a="http://schemas.openxmlformats.org/drawingml/2006/main">
            <a:r>
              <a:t>Expected output:</a:t>
            </a:r>
          </a:p>
          <a:p xmlns:a="http://schemas.openxmlformats.org/drawingml/2006/main">
            <a:r>
              <a:t>Enter your name:</a:t>
            </a:r>
          </a:p>
          <a:p xmlns:a="http://schemas.openxmlformats.org/drawingml/2006/main">
            <a:r>
              <a:t>Hello, Alice</a:t>
            </a:r>
          </a:p>
          <a:p xmlns:a="http://schemas.openxmlformats.org/drawingml/2006/main">
            <a:r>
              <a:t/>
            </a:r>
          </a:p>
          <a:p xmlns:a="http://schemas.openxmlformats.org/drawingml/2006/main">
            <a:r>
              <a:t>Program 14: Function variable</a:t>
            </a:r>
          </a:p>
          <a:p xmlns:a="http://schemas.openxmlformats.org/drawingml/2006/main">
            <a:r>
              <a:t>fun add(a, b) {</a:t>
            </a:r>
          </a:p>
          <a:p xmlns:a="http://schemas.openxmlformats.org/drawingml/2006/main">
            <a:r>
              <a:t>    return a + b;</a:t>
            </a:r>
          </a:p>
          <a:p xmlns:a="http://schemas.openxmlformats.org/drawingml/2006/main">
            <a:r>
              <a:t>}</a:t>
            </a:r>
          </a:p>
          <a:p xmlns:a="http://schemas.openxmlformats.org/drawingml/2006/main">
            <a:r>
              <a:t>var operation = add;</a:t>
            </a:r>
          </a:p>
          <a:p xmlns:a="http://schemas.openxmlformats.org/drawingml/2006/main">
            <a:r>
              <a:t>print(operation(4, 6));</a:t>
            </a:r>
          </a:p>
          <a:p xmlns:a="http://schemas.openxmlformats.org/drawingml/2006/main">
            <a:r>
              <a:t/>
            </a:r>
          </a:p>
          <a:p xmlns:a="http://schemas.openxmlformats.org/drawingml/2006/main">
            <a:r>
              <a:t>Expected output:</a:t>
            </a:r>
          </a:p>
          <a:p xmlns:a="http://schemas.openxmlformats.org/drawingml/2006/main">
            <a:r>
              <a:t>10</a:t>
            </a:r>
          </a:p>
          <a:p xmlns:a="http://schemas.openxmlformats.org/drawingml/2006/main">
            <a:r>
              <a:t/>
            </a:r>
          </a:p>
          <a:p xmlns:a="http://schemas.openxmlformats.org/drawingml/2006/main">
            <a:r>
              <a:t>[Sources]</a:t>
            </a:r>
          </a:p>
          <a:p xmlns:a="http://schemas.openxmlformats.org/drawingml/2006/main">
            <a:r>
              <a:t>User-provided Project D requirements, programs, team details and design revisions. All results are expected behavior under the proposed language design.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47579f00cd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0134886941420f" /><Relationship Type="http://schemas.openxmlformats.org/officeDocument/2006/relationships/slideLayout" Target="/ppt/slideLayouts/slideLayout1.xml" Id="R955119321aa448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5119321aa448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cee3aa553f942c4" /><Relationship Type="http://schemas.openxmlformats.org/officeDocument/2006/relationships/notesSlide" Target="/ppt/notesSlides/notesSlide1.xml" Id="R37a20812460f47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6b1b567ef04311" /><Relationship Type="http://schemas.openxmlformats.org/officeDocument/2006/relationships/notesSlide" Target="/ppt/notesSlides/notesSlide2.xml" Id="R2417f99523ab4e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92333e42c7497b" /><Relationship Type="http://schemas.openxmlformats.org/officeDocument/2006/relationships/notesSlide" Target="/ppt/notesSlides/notesSlide3.xml" Id="R2a3843c0dd5f42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95dd1cdc854a95" /><Relationship Type="http://schemas.openxmlformats.org/officeDocument/2006/relationships/notesSlide" Target="/ppt/notesSlides/notesSlide4.xml" Id="R33f7e168ed6b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2660415e374819" /><Relationship Type="http://schemas.openxmlformats.org/officeDocument/2006/relationships/notesSlide" Target="/ppt/notesSlides/notesSlide5.xml" Id="Rffda3306382341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75148c4a454096" /><Relationship Type="http://schemas.openxmlformats.org/officeDocument/2006/relationships/notesSlide" Target="/ppt/notesSlides/notesSlide6.xml" Id="R41cb1c6f381c4e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bc01d4a3f640f2" /><Relationship Type="http://schemas.openxmlformats.org/officeDocument/2006/relationships/notesSlide" Target="/ppt/notesSlides/notesSlide7.xml" Id="Rbb6eaed786ff41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0cf49c1b10417f" /><Relationship Type="http://schemas.openxmlformats.org/officeDocument/2006/relationships/notesSlide" Target="/ppt/notesSlides/notesSlide8.xml" Id="Rc77887be8f7547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776b7c312d46f7" /><Relationship Type="http://schemas.openxmlformats.org/officeDocument/2006/relationships/notesSlide" Target="/ppt/notesSlides/notesSlide9.xml" Id="Rfa9a4a2dc28042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91db70e0a347e0" /><Relationship Type="http://schemas.openxmlformats.org/officeDocument/2006/relationships/notesSlide" Target="/ppt/notesSlides/notesSlide10.xml" Id="Rf09a98d203ca466b" /></Relationships>
</file>

<file path=ppt/slides/slide1.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9E5245-044C-4A73-935D-1C14940541B4}"/>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D908FC00-2BE1-4C97-BC8A-1162681109D9}"/>
              </a:ext>
            </a:extLst>
          </p:cNvPr>
          <p:cNvSpPr>
            <a:spLocks xmlns:a="http://schemas.openxmlformats.org/drawingml/2006/main" noGrp="1"/>
          </p:cNvSpPr>
          <p:nvPr/>
        </p:nvSpPr>
        <p:spPr>
          <a:xfrm xmlns:a="http://schemas.openxmlformats.org/drawingml/2006/main">
            <a:off x="762000" y="866775"/>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4050" b="1">
                <a:solidFill>
                  <a:srgbClr val="F4F7FA"/>
                </a:solidFill>
                <a:latin typeface="Arial"/>
                <a:ea typeface="Arial"/>
                <a:cs typeface="Arial"/>
              </a:defRPr>
            </a:pPr>
            <a:r>
              <a:rPr sz="4050" b="1">
                <a:solidFill>
                  <a:srgbClr val="F4F7FA"/>
                </a:solidFill>
                <a:latin typeface="Arial"/>
                <a:ea typeface="Arial"/>
                <a:cs typeface="Arial"/>
              </a:rPr>
              <a:t>Project D: Dynamic Language</a:t>
            </a:r>
          </a:p>
        </p:txBody>
      </p:sp>
      <p:sp>
        <p:nvSpPr>
          <p:cNvPr id="3" name="">
            <a:extLst xmlns:a="http://schemas.openxmlformats.org/drawingml/2006/main">
              <a:ext uri="{FF2B5EF4-FFF2-40B4-BE49-F238E27FC236}">
                <a16:creationId xmlns:a16="http://schemas.microsoft.com/office/drawing/2014/main" id="{AF43FFCE-3BBB-4E59-B4F8-A30EABEEFD48}"/>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D064ED-3B1D-4741-8C4F-DB850707AC25}"/>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5" name="">
            <a:extLst xmlns:a="http://schemas.openxmlformats.org/drawingml/2006/main">
              <a:ext uri="{FF2B5EF4-FFF2-40B4-BE49-F238E27FC236}">
                <a16:creationId xmlns:a16="http://schemas.microsoft.com/office/drawing/2014/main" id="{5FD5EAAD-1F04-47D6-91EA-CB04CD05F79C}"/>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BDA1A76-080E-4889-B76D-7B3534270E81}"/>
              </a:ext>
            </a:extLst>
          </p:cNvPr>
          <p:cNvSpPr>
            <a:spLocks xmlns:a="http://schemas.openxmlformats.org/drawingml/2006/main" noGrp="1"/>
          </p:cNvSpPr>
          <p:nvPr/>
        </p:nvSpPr>
        <p:spPr>
          <a:xfrm xmlns:a="http://schemas.openxmlformats.org/drawingml/2006/main">
            <a:off x="762000" y="2428875"/>
            <a:ext cx="1304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375" b="0">
                <a:solidFill>
                  <a:srgbClr val="B6E653"/>
                </a:solidFill>
                <a:latin typeface="Arial"/>
                <a:ea typeface="Arial"/>
                <a:cs typeface="Arial"/>
              </a:defRPr>
            </a:pPr>
            <a:r>
              <a:rPr sz="3375" b="0">
                <a:solidFill>
                  <a:srgbClr val="B6E653"/>
                </a:solidFill>
                <a:latin typeface="Arial"/>
                <a:ea typeface="Arial"/>
                <a:cs typeface="Arial"/>
              </a:rPr>
              <a:t>An interpreter with lexical closures</a:t>
            </a:r>
          </a:p>
        </p:txBody>
      </p:sp>
      <p:sp>
        <p:nvSpPr>
          <p:cNvPr id="7" name="">
            <a:extLst xmlns:a="http://schemas.openxmlformats.org/drawingml/2006/main">
              <a:ext uri="{FF2B5EF4-FFF2-40B4-BE49-F238E27FC236}">
                <a16:creationId xmlns:a16="http://schemas.microsoft.com/office/drawing/2014/main" id="{7B884046-576D-4227-B0D5-FB8D6C25D043}"/>
              </a:ext>
            </a:extLst>
          </p:cNvPr>
          <p:cNvSpPr>
            <a:spLocks xmlns:a="http://schemas.openxmlformats.org/drawingml/2006/main" noGrp="1"/>
          </p:cNvSpPr>
          <p:nvPr/>
        </p:nvSpPr>
        <p:spPr>
          <a:xfrm xmlns:a="http://schemas.openxmlformats.org/drawingml/2006/main">
            <a:off x="762000" y="42100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375" b="1">
                <a:solidFill>
                  <a:srgbClr val="B6E653"/>
                </a:solidFill>
                <a:latin typeface="Arial"/>
                <a:ea typeface="Arial"/>
                <a:cs typeface="Arial"/>
              </a:defRPr>
            </a:pPr>
            <a:r>
              <a:rPr sz="3375" b="1">
                <a:solidFill>
                  <a:srgbClr val="B6E653"/>
                </a:solidFill>
                <a:latin typeface="Arial"/>
                <a:ea typeface="Arial"/>
                <a:cs typeface="Arial"/>
              </a:rPr>
              <a:t>Krutaya Komanda</a:t>
            </a:r>
          </a:p>
        </p:txBody>
      </p:sp>
      <p:sp>
        <p:nvSpPr>
          <p:cNvPr id="8" name="">
            <a:extLst xmlns:a="http://schemas.openxmlformats.org/drawingml/2006/main">
              <a:ext uri="{FF2B5EF4-FFF2-40B4-BE49-F238E27FC236}">
                <a16:creationId xmlns:a16="http://schemas.microsoft.com/office/drawing/2014/main" id="{2312697E-6FA6-4EAC-9C2E-EDDDA993CCA7}"/>
              </a:ext>
            </a:extLst>
          </p:cNvPr>
          <p:cNvSpPr>
            <a:spLocks xmlns:a="http://schemas.openxmlformats.org/drawingml/2006/main" noGrp="1"/>
          </p:cNvSpPr>
          <p:nvPr/>
        </p:nvSpPr>
        <p:spPr>
          <a:xfrm xmlns:a="http://schemas.openxmlformats.org/drawingml/2006/main">
            <a:off x="762000" y="5095875"/>
            <a:ext cx="13716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0">
                <a:solidFill>
                  <a:srgbClr val="F4F7FA"/>
                </a:solidFill>
                <a:latin typeface="Arial"/>
                <a:ea typeface="Arial"/>
                <a:cs typeface="Arial"/>
              </a:defRPr>
            </a:pPr>
            <a:r>
              <a:rPr sz="2400" b="0">
                <a:solidFill>
                  <a:srgbClr val="F4F7FA"/>
                </a:solidFill>
                <a:latin typeface="Arial"/>
                <a:ea typeface="Arial"/>
                <a:cs typeface="Arial"/>
              </a:rPr>
              <a:t>Ernest Kudakaev</a:t>
            </a:r>
          </a:p>
          <a:p xmlns:a="http://schemas.openxmlformats.org/drawingml/2006/main">
            <a:pPr>
              <a:buNone/>
              <a:defRPr sz="2400" b="0">
                <a:solidFill>
                  <a:srgbClr val="F4F7FA"/>
                </a:solidFill>
                <a:latin typeface="Arial"/>
                <a:ea typeface="Arial"/>
                <a:cs typeface="Arial"/>
              </a:defRPr>
            </a:pPr>
            <a:r>
              <a:rPr sz="2400" b="0">
                <a:solidFill>
                  <a:srgbClr val="F4F7FA"/>
                </a:solidFill>
                <a:latin typeface="Arial"/>
                <a:ea typeface="Arial"/>
                <a:cs typeface="Arial"/>
              </a:rPr>
              <a:t>Albert Arselgov</a:t>
            </a:r>
          </a:p>
          <a:p xmlns:a="http://schemas.openxmlformats.org/drawingml/2006/main">
            <a:pPr>
              <a:buNone/>
              <a:defRPr sz="2400" b="0">
                <a:solidFill>
                  <a:srgbClr val="F4F7FA"/>
                </a:solidFill>
                <a:latin typeface="Arial"/>
                <a:ea typeface="Arial"/>
                <a:cs typeface="Arial"/>
              </a:defRPr>
            </a:pPr>
            <a:r>
              <a:rPr sz="2400" b="0">
                <a:solidFill>
                  <a:srgbClr val="F4F7FA"/>
                </a:solidFill>
                <a:latin typeface="Arial"/>
                <a:ea typeface="Arial"/>
                <a:cs typeface="Arial"/>
              </a:rPr>
              <a:t>Nikita Khripunkov</a:t>
            </a:r>
          </a:p>
        </p:txBody>
      </p:sp>
      <p:sp>
        <p:nvSpPr>
          <p:cNvPr id="9" name="">
            <a:extLst xmlns:a="http://schemas.openxmlformats.org/drawingml/2006/main">
              <a:ext uri="{FF2B5EF4-FFF2-40B4-BE49-F238E27FC236}">
                <a16:creationId xmlns:a16="http://schemas.microsoft.com/office/drawing/2014/main" id="{96D70AAB-91EE-4942-8A3A-672E773CF368}"/>
              </a:ext>
            </a:extLst>
          </p:cNvPr>
          <p:cNvSpPr>
            <a:spLocks xmlns:a="http://schemas.openxmlformats.org/drawingml/2006/main" noGrp="1"/>
          </p:cNvSpPr>
          <p:nvPr/>
        </p:nvSpPr>
        <p:spPr>
          <a:xfrm xmlns:a="http://schemas.openxmlformats.org/drawingml/2006/main">
            <a:off x="762000" y="6896100"/>
            <a:ext cx="13716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0">
                <a:solidFill>
                  <a:srgbClr val="CDD7E3"/>
                </a:solidFill>
                <a:latin typeface="Arial"/>
                <a:ea typeface="Arial"/>
                <a:cs typeface="Arial"/>
              </a:defRPr>
            </a:pPr>
            <a:r>
              <a:rPr sz="2250" b="0">
                <a:solidFill>
                  <a:srgbClr val="CDD7E3"/>
                </a:solidFill>
                <a:latin typeface="Arial"/>
                <a:ea typeface="Arial"/>
                <a:cs typeface="Arial"/>
              </a:rPr>
              <a:t>Language design and 14 sample programs</a:t>
            </a:r>
          </a:p>
        </p:txBody>
      </p:sp>
    </p:spTree>
    <p:extLst>
      <p:ext uri="{BB962C8B-B14F-4D97-AF65-F5344CB8AC3E}">
        <p14:creationId xmlns:p14="http://schemas.microsoft.com/office/powerpoint/2010/main" val="1757805997"/>
      </p:ext>
    </p:extLst>
  </p:cSld>
</p:sld>
</file>

<file path=ppt/slides/slide2.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0B97576-18BD-4EC3-906E-CF843D2F7C56}"/>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FD1587D-2835-4EE7-ADCC-D65411DDA1A3}"/>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A Java interpreter built around an AST</a:t>
            </a:r>
          </a:p>
        </p:txBody>
      </p:sp>
      <p:sp>
        <p:nvSpPr>
          <p:cNvPr id="3" name="">
            <a:extLst xmlns:a="http://schemas.openxmlformats.org/drawingml/2006/main">
              <a:ext uri="{FF2B5EF4-FFF2-40B4-BE49-F238E27FC236}">
                <a16:creationId xmlns:a16="http://schemas.microsoft.com/office/drawing/2014/main" id="{47F61DDE-1CAB-4A9A-BB0D-D46D3A65D936}"/>
              </a:ext>
            </a:extLst>
          </p:cNvPr>
          <p:cNvSpPr>
            <a:spLocks xmlns:a="http://schemas.openxmlformats.org/drawingml/2006/main" noGrp="1"/>
          </p:cNvSpPr>
          <p:nvPr/>
        </p:nvSpPr>
        <p:spPr>
          <a:xfrm xmlns:a="http://schemas.openxmlformats.org/drawingml/2006/main">
            <a:off x="762000" y="15716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Planned architecture: hand-written front end, direct execution of the AST.</a:t>
            </a:r>
          </a:p>
        </p:txBody>
      </p:sp>
      <p:sp>
        <p:nvSpPr>
          <p:cNvPr id="4" name="">
            <a:extLst xmlns:a="http://schemas.openxmlformats.org/drawingml/2006/main">
              <a:ext uri="{FF2B5EF4-FFF2-40B4-BE49-F238E27FC236}">
                <a16:creationId xmlns:a16="http://schemas.microsoft.com/office/drawing/2014/main" id="{8E274F88-E821-4BA2-BB2D-EFA59C1B8244}"/>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B2D02E-8B88-41E8-A33E-1E4DF86744D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3FDA5410-4D2F-4CBE-A4DE-8A22D8A79A90}"/>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74ED358-02E3-4DB6-9A3A-2BAD7EBE5052}"/>
              </a:ext>
            </a:extLst>
          </p:cNvPr>
          <p:cNvSpPr>
            <a:spLocks xmlns:a="http://schemas.openxmlformats.org/drawingml/2006/main" noGrp="1"/>
          </p:cNvSpPr>
          <p:nvPr/>
        </p:nvSpPr>
        <p:spPr>
          <a:xfrm xmlns:a="http://schemas.openxmlformats.org/drawingml/2006/main">
            <a:off x="762000" y="23717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Source language</a:t>
            </a:r>
          </a:p>
        </p:txBody>
      </p:sp>
      <p:sp>
        <p:nvSpPr>
          <p:cNvPr id="8" name="">
            <a:extLst xmlns:a="http://schemas.openxmlformats.org/drawingml/2006/main">
              <a:ext uri="{FF2B5EF4-FFF2-40B4-BE49-F238E27FC236}">
                <a16:creationId xmlns:a16="http://schemas.microsoft.com/office/drawing/2014/main" id="{E110C29F-3054-43B1-BBE9-1C2AB81D6551}"/>
              </a:ext>
            </a:extLst>
          </p:cNvPr>
          <p:cNvSpPr>
            <a:spLocks xmlns:a="http://schemas.openxmlformats.org/drawingml/2006/main" noGrp="1"/>
          </p:cNvSpPr>
          <p:nvPr/>
        </p:nvSpPr>
        <p:spPr>
          <a:xfrm xmlns:a="http://schemas.openxmlformats.org/drawingml/2006/main">
            <a:off x="3476625" y="23717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Project D</a:t>
            </a:r>
          </a:p>
        </p:txBody>
      </p:sp>
      <p:sp>
        <p:nvSpPr>
          <p:cNvPr id="9" name="">
            <a:extLst xmlns:a="http://schemas.openxmlformats.org/drawingml/2006/main">
              <a:ext uri="{FF2B5EF4-FFF2-40B4-BE49-F238E27FC236}">
                <a16:creationId xmlns:a16="http://schemas.microsoft.com/office/drawing/2014/main" id="{1EA15608-4D69-4AD4-90DF-313B608705FD}"/>
              </a:ext>
            </a:extLst>
          </p:cNvPr>
          <p:cNvSpPr>
            <a:spLocks xmlns:a="http://schemas.openxmlformats.org/drawingml/2006/main" noGrp="1"/>
          </p:cNvSpPr>
          <p:nvPr/>
        </p:nvSpPr>
        <p:spPr>
          <a:xfrm xmlns:a="http://schemas.openxmlformats.org/drawingml/2006/main">
            <a:off x="762000" y="2847975"/>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973439-3975-4E04-A27A-43DF330EB7D0}"/>
              </a:ext>
            </a:extLst>
          </p:cNvPr>
          <p:cNvSpPr>
            <a:spLocks xmlns:a="http://schemas.openxmlformats.org/drawingml/2006/main" noGrp="1"/>
          </p:cNvSpPr>
          <p:nvPr/>
        </p:nvSpPr>
        <p:spPr>
          <a:xfrm xmlns:a="http://schemas.openxmlformats.org/drawingml/2006/main">
            <a:off x="762000" y="29908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Implementation</a:t>
            </a:r>
          </a:p>
        </p:txBody>
      </p:sp>
      <p:sp>
        <p:nvSpPr>
          <p:cNvPr id="11" name="">
            <a:extLst xmlns:a="http://schemas.openxmlformats.org/drawingml/2006/main">
              <a:ext uri="{FF2B5EF4-FFF2-40B4-BE49-F238E27FC236}">
                <a16:creationId xmlns:a16="http://schemas.microsoft.com/office/drawing/2014/main" id="{5B6C591F-3BC1-4C9C-92F5-7E61A8E03396}"/>
              </a:ext>
            </a:extLst>
          </p:cNvPr>
          <p:cNvSpPr>
            <a:spLocks xmlns:a="http://schemas.openxmlformats.org/drawingml/2006/main" noGrp="1"/>
          </p:cNvSpPr>
          <p:nvPr/>
        </p:nvSpPr>
        <p:spPr>
          <a:xfrm xmlns:a="http://schemas.openxmlformats.org/drawingml/2006/main">
            <a:off x="3476625" y="29908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Java</a:t>
            </a:r>
          </a:p>
        </p:txBody>
      </p:sp>
      <p:sp>
        <p:nvSpPr>
          <p:cNvPr id="12" name="">
            <a:extLst xmlns:a="http://schemas.openxmlformats.org/drawingml/2006/main">
              <a:ext uri="{FF2B5EF4-FFF2-40B4-BE49-F238E27FC236}">
                <a16:creationId xmlns:a16="http://schemas.microsoft.com/office/drawing/2014/main" id="{2F169067-4775-4EDA-96B9-EBB7B9A4B15D}"/>
              </a:ext>
            </a:extLst>
          </p:cNvPr>
          <p:cNvSpPr>
            <a:spLocks xmlns:a="http://schemas.openxmlformats.org/drawingml/2006/main" noGrp="1"/>
          </p:cNvSpPr>
          <p:nvPr/>
        </p:nvSpPr>
        <p:spPr>
          <a:xfrm xmlns:a="http://schemas.openxmlformats.org/drawingml/2006/main">
            <a:off x="762000" y="3467100"/>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B57D11-BBEB-4A50-A05B-D6AD4520F1AF}"/>
              </a:ext>
            </a:extLst>
          </p:cNvPr>
          <p:cNvSpPr>
            <a:spLocks xmlns:a="http://schemas.openxmlformats.org/drawingml/2006/main" noGrp="1"/>
          </p:cNvSpPr>
          <p:nvPr/>
        </p:nvSpPr>
        <p:spPr>
          <a:xfrm xmlns:a="http://schemas.openxmlformats.org/drawingml/2006/main">
            <a:off x="762000" y="36099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Lexer</a:t>
            </a:r>
          </a:p>
        </p:txBody>
      </p:sp>
      <p:sp>
        <p:nvSpPr>
          <p:cNvPr id="14" name="">
            <a:extLst xmlns:a="http://schemas.openxmlformats.org/drawingml/2006/main">
              <a:ext uri="{FF2B5EF4-FFF2-40B4-BE49-F238E27FC236}">
                <a16:creationId xmlns:a16="http://schemas.microsoft.com/office/drawing/2014/main" id="{5331853E-F80C-489E-99D4-FA2D6283DFDE}"/>
              </a:ext>
            </a:extLst>
          </p:cNvPr>
          <p:cNvSpPr>
            <a:spLocks xmlns:a="http://schemas.openxmlformats.org/drawingml/2006/main" noGrp="1"/>
          </p:cNvSpPr>
          <p:nvPr/>
        </p:nvSpPr>
        <p:spPr>
          <a:xfrm xmlns:a="http://schemas.openxmlformats.org/drawingml/2006/main">
            <a:off x="3476625" y="3609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Hand-written</a:t>
            </a:r>
          </a:p>
        </p:txBody>
      </p:sp>
      <p:sp>
        <p:nvSpPr>
          <p:cNvPr id="15" name="">
            <a:extLst xmlns:a="http://schemas.openxmlformats.org/drawingml/2006/main">
              <a:ext uri="{FF2B5EF4-FFF2-40B4-BE49-F238E27FC236}">
                <a16:creationId xmlns:a16="http://schemas.microsoft.com/office/drawing/2014/main" id="{641EE30C-18D4-4ABC-8F0B-9342C0D85142}"/>
              </a:ext>
            </a:extLst>
          </p:cNvPr>
          <p:cNvSpPr>
            <a:spLocks xmlns:a="http://schemas.openxmlformats.org/drawingml/2006/main" noGrp="1"/>
          </p:cNvSpPr>
          <p:nvPr/>
        </p:nvSpPr>
        <p:spPr>
          <a:xfrm xmlns:a="http://schemas.openxmlformats.org/drawingml/2006/main">
            <a:off x="762000" y="4086225"/>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D2BF6D5-6450-45C0-B04D-76781A464574}"/>
              </a:ext>
            </a:extLst>
          </p:cNvPr>
          <p:cNvSpPr>
            <a:spLocks xmlns:a="http://schemas.openxmlformats.org/drawingml/2006/main" noGrp="1"/>
          </p:cNvSpPr>
          <p:nvPr/>
        </p:nvSpPr>
        <p:spPr>
          <a:xfrm xmlns:a="http://schemas.openxmlformats.org/drawingml/2006/main">
            <a:off x="762000" y="42291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Parser</a:t>
            </a:r>
          </a:p>
        </p:txBody>
      </p:sp>
      <p:sp>
        <p:nvSpPr>
          <p:cNvPr id="17" name="">
            <a:extLst xmlns:a="http://schemas.openxmlformats.org/drawingml/2006/main">
              <a:ext uri="{FF2B5EF4-FFF2-40B4-BE49-F238E27FC236}">
                <a16:creationId xmlns:a16="http://schemas.microsoft.com/office/drawing/2014/main" id="{78B42D00-AF68-41D5-A4C6-CE925443E9D3}"/>
              </a:ext>
            </a:extLst>
          </p:cNvPr>
          <p:cNvSpPr>
            <a:spLocks xmlns:a="http://schemas.openxmlformats.org/drawingml/2006/main" noGrp="1"/>
          </p:cNvSpPr>
          <p:nvPr/>
        </p:nvSpPr>
        <p:spPr>
          <a:xfrm xmlns:a="http://schemas.openxmlformats.org/drawingml/2006/main">
            <a:off x="3476625" y="4229100"/>
            <a:ext cx="4667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1">
                <a:solidFill>
                  <a:srgbClr val="F4F7FA"/>
                </a:solidFill>
                <a:latin typeface="Arial"/>
                <a:ea typeface="Arial"/>
                <a:cs typeface="Arial"/>
              </a:defRPr>
            </a:pPr>
            <a:r>
              <a:rPr sz="2100" b="1">
                <a:solidFill>
                  <a:srgbClr val="F4F7FA"/>
                </a:solidFill>
                <a:latin typeface="Arial"/>
                <a:ea typeface="Arial"/>
                <a:cs typeface="Arial"/>
              </a:rPr>
              <a:t>Hand-written recursive descent</a:t>
            </a:r>
          </a:p>
        </p:txBody>
      </p:sp>
      <p:sp>
        <p:nvSpPr>
          <p:cNvPr id="18" name="">
            <a:extLst xmlns:a="http://schemas.openxmlformats.org/drawingml/2006/main">
              <a:ext uri="{FF2B5EF4-FFF2-40B4-BE49-F238E27FC236}">
                <a16:creationId xmlns:a16="http://schemas.microsoft.com/office/drawing/2014/main" id="{C6733711-00A6-4E19-B130-FA16BE3A659C}"/>
              </a:ext>
            </a:extLst>
          </p:cNvPr>
          <p:cNvSpPr>
            <a:spLocks xmlns:a="http://schemas.openxmlformats.org/drawingml/2006/main" noGrp="1"/>
          </p:cNvSpPr>
          <p:nvPr/>
        </p:nvSpPr>
        <p:spPr>
          <a:xfrm xmlns:a="http://schemas.openxmlformats.org/drawingml/2006/main">
            <a:off x="762000" y="4705350"/>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DCB3CC2-6114-412D-87A5-62E7DE5A6CA2}"/>
              </a:ext>
            </a:extLst>
          </p:cNvPr>
          <p:cNvSpPr>
            <a:spLocks xmlns:a="http://schemas.openxmlformats.org/drawingml/2006/main" noGrp="1"/>
          </p:cNvSpPr>
          <p:nvPr/>
        </p:nvSpPr>
        <p:spPr>
          <a:xfrm xmlns:a="http://schemas.openxmlformats.org/drawingml/2006/main">
            <a:off x="762000" y="48482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8286C22D-820D-4162-8569-7040734A1F19}"/>
              </a:ext>
            </a:extLst>
          </p:cNvPr>
          <p:cNvSpPr>
            <a:spLocks xmlns:a="http://schemas.openxmlformats.org/drawingml/2006/main" noGrp="1"/>
          </p:cNvSpPr>
          <p:nvPr/>
        </p:nvSpPr>
        <p:spPr>
          <a:xfrm xmlns:a="http://schemas.openxmlformats.org/drawingml/2006/main">
            <a:off x="3476625" y="484822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AST</a:t>
            </a:r>
          </a:p>
        </p:txBody>
      </p:sp>
      <p:sp>
        <p:nvSpPr>
          <p:cNvPr id="21" name="">
            <a:extLst xmlns:a="http://schemas.openxmlformats.org/drawingml/2006/main">
              <a:ext uri="{FF2B5EF4-FFF2-40B4-BE49-F238E27FC236}">
                <a16:creationId xmlns:a16="http://schemas.microsoft.com/office/drawing/2014/main" id="{78A11EE6-3DCD-4627-B224-5F99EBF91703}"/>
              </a:ext>
            </a:extLst>
          </p:cNvPr>
          <p:cNvSpPr>
            <a:spLocks xmlns:a="http://schemas.openxmlformats.org/drawingml/2006/main" noGrp="1"/>
          </p:cNvSpPr>
          <p:nvPr/>
        </p:nvSpPr>
        <p:spPr>
          <a:xfrm xmlns:a="http://schemas.openxmlformats.org/drawingml/2006/main">
            <a:off x="762000" y="5324475"/>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F8980B1-F27B-4D1D-86B7-66744137E9A0}"/>
              </a:ext>
            </a:extLst>
          </p:cNvPr>
          <p:cNvSpPr>
            <a:spLocks xmlns:a="http://schemas.openxmlformats.org/drawingml/2006/main" noGrp="1"/>
          </p:cNvSpPr>
          <p:nvPr/>
        </p:nvSpPr>
        <p:spPr>
          <a:xfrm xmlns:a="http://schemas.openxmlformats.org/drawingml/2006/main">
            <a:off x="762000" y="54673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Target platform</a:t>
            </a:r>
          </a:p>
        </p:txBody>
      </p:sp>
      <p:sp>
        <p:nvSpPr>
          <p:cNvPr id="23" name="">
            <a:extLst xmlns:a="http://schemas.openxmlformats.org/drawingml/2006/main">
              <a:ext uri="{FF2B5EF4-FFF2-40B4-BE49-F238E27FC236}">
                <a16:creationId xmlns:a16="http://schemas.microsoft.com/office/drawing/2014/main" id="{D1762F24-B31B-464B-B864-C29B78D5181D}"/>
              </a:ext>
            </a:extLst>
          </p:cNvPr>
          <p:cNvSpPr>
            <a:spLocks xmlns:a="http://schemas.openxmlformats.org/drawingml/2006/main" noGrp="1"/>
          </p:cNvSpPr>
          <p:nvPr/>
        </p:nvSpPr>
        <p:spPr>
          <a:xfrm xmlns:a="http://schemas.openxmlformats.org/drawingml/2006/main">
            <a:off x="3476625" y="546735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Interpreter</a:t>
            </a:r>
          </a:p>
        </p:txBody>
      </p:sp>
      <p:sp>
        <p:nvSpPr>
          <p:cNvPr id="24" name="">
            <a:extLst xmlns:a="http://schemas.openxmlformats.org/drawingml/2006/main">
              <a:ext uri="{FF2B5EF4-FFF2-40B4-BE49-F238E27FC236}">
                <a16:creationId xmlns:a16="http://schemas.microsoft.com/office/drawing/2014/main" id="{173947B4-C500-4CAB-8E06-A74F823F5151}"/>
              </a:ext>
            </a:extLst>
          </p:cNvPr>
          <p:cNvSpPr>
            <a:spLocks xmlns:a="http://schemas.openxmlformats.org/drawingml/2006/main" noGrp="1"/>
          </p:cNvSpPr>
          <p:nvPr/>
        </p:nvSpPr>
        <p:spPr>
          <a:xfrm xmlns:a="http://schemas.openxmlformats.org/drawingml/2006/main">
            <a:off x="762000" y="5943600"/>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9606033-CB58-41C7-9CA2-4A3F6190FFFC}"/>
              </a:ext>
            </a:extLst>
          </p:cNvPr>
          <p:cNvSpPr>
            <a:spLocks xmlns:a="http://schemas.openxmlformats.org/drawingml/2006/main" noGrp="1"/>
          </p:cNvSpPr>
          <p:nvPr/>
        </p:nvSpPr>
        <p:spPr>
          <a:xfrm xmlns:a="http://schemas.openxmlformats.org/drawingml/2006/main">
            <a:off x="762000" y="60864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Scoping</a:t>
            </a:r>
          </a:p>
        </p:txBody>
      </p:sp>
      <p:sp>
        <p:nvSpPr>
          <p:cNvPr id="26" name="">
            <a:extLst xmlns:a="http://schemas.openxmlformats.org/drawingml/2006/main">
              <a:ext uri="{FF2B5EF4-FFF2-40B4-BE49-F238E27FC236}">
                <a16:creationId xmlns:a16="http://schemas.microsoft.com/office/drawing/2014/main" id="{06AF5D92-1096-4A8E-9FE9-2E4A1527E0D5}"/>
              </a:ext>
            </a:extLst>
          </p:cNvPr>
          <p:cNvSpPr>
            <a:spLocks xmlns:a="http://schemas.openxmlformats.org/drawingml/2006/main" noGrp="1"/>
          </p:cNvSpPr>
          <p:nvPr/>
        </p:nvSpPr>
        <p:spPr>
          <a:xfrm xmlns:a="http://schemas.openxmlformats.org/drawingml/2006/main">
            <a:off x="3476625" y="60864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F4F7FA"/>
                </a:solidFill>
                <a:latin typeface="Arial"/>
                <a:ea typeface="Arial"/>
                <a:cs typeface="Arial"/>
              </a:defRPr>
            </a:pPr>
            <a:r>
              <a:rPr sz="2175" b="1">
                <a:solidFill>
                  <a:srgbClr val="F4F7FA"/>
                </a:solidFill>
                <a:latin typeface="Arial"/>
                <a:ea typeface="Arial"/>
                <a:cs typeface="Arial"/>
              </a:rPr>
              <a:t>Lexical</a:t>
            </a:r>
          </a:p>
        </p:txBody>
      </p:sp>
      <p:sp>
        <p:nvSpPr>
          <p:cNvPr id="27" name="">
            <a:extLst xmlns:a="http://schemas.openxmlformats.org/drawingml/2006/main">
              <a:ext uri="{FF2B5EF4-FFF2-40B4-BE49-F238E27FC236}">
                <a16:creationId xmlns:a16="http://schemas.microsoft.com/office/drawing/2014/main" id="{31CC30E5-456C-4BD8-A911-A77AF85BD41A}"/>
              </a:ext>
            </a:extLst>
          </p:cNvPr>
          <p:cNvSpPr>
            <a:spLocks xmlns:a="http://schemas.openxmlformats.org/drawingml/2006/main" noGrp="1"/>
          </p:cNvSpPr>
          <p:nvPr/>
        </p:nvSpPr>
        <p:spPr>
          <a:xfrm xmlns:a="http://schemas.openxmlformats.org/drawingml/2006/main">
            <a:off x="762000" y="6562725"/>
            <a:ext cx="6667500" cy="9525"/>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15A09F9-6963-4CD6-BFED-4DCDA4ADD850}"/>
              </a:ext>
            </a:extLst>
          </p:cNvPr>
          <p:cNvSpPr>
            <a:spLocks xmlns:a="http://schemas.openxmlformats.org/drawingml/2006/main" noGrp="1"/>
          </p:cNvSpPr>
          <p:nvPr/>
        </p:nvSpPr>
        <p:spPr>
          <a:xfrm xmlns:a="http://schemas.openxmlformats.org/drawingml/2006/main">
            <a:off x="8572500" y="231457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725" b="1">
                <a:solidFill>
                  <a:srgbClr val="B6E653"/>
                </a:solidFill>
                <a:latin typeface="Arial"/>
                <a:ea typeface="Arial"/>
                <a:cs typeface="Arial"/>
              </a:defRPr>
            </a:pPr>
            <a:r>
              <a:rPr sz="1725" b="1">
                <a:solidFill>
                  <a:srgbClr val="B6E653"/>
                </a:solidFill>
                <a:latin typeface="Arial"/>
                <a:ea typeface="Arial"/>
                <a:cs typeface="Arial"/>
              </a:rPr>
              <a:t>EXECUTION PIPELINE</a:t>
            </a:r>
          </a:p>
        </p:txBody>
      </p:sp>
      <p:sp>
        <p:nvSpPr>
          <p:cNvPr id="29" name="">
            <a:extLst xmlns:a="http://schemas.openxmlformats.org/drawingml/2006/main">
              <a:ext uri="{FF2B5EF4-FFF2-40B4-BE49-F238E27FC236}">
                <a16:creationId xmlns:a16="http://schemas.microsoft.com/office/drawing/2014/main" id="{86C9C939-31A9-4170-A7AD-533D8F55C1C5}"/>
              </a:ext>
            </a:extLst>
          </p:cNvPr>
          <p:cNvSpPr>
            <a:spLocks xmlns:a="http://schemas.openxmlformats.org/drawingml/2006/main" noGrp="1"/>
          </p:cNvSpPr>
          <p:nvPr/>
        </p:nvSpPr>
        <p:spPr>
          <a:xfrm xmlns:a="http://schemas.openxmlformats.org/drawingml/2006/main">
            <a:off x="8572500" y="287655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0">
                <a:solidFill>
                  <a:srgbClr val="F4F7FA"/>
                </a:solidFill>
                <a:latin typeface="Arial"/>
                <a:ea typeface="Arial"/>
                <a:cs typeface="Arial"/>
              </a:defRPr>
            </a:pPr>
            <a:r>
              <a:rPr sz="2250" b="0">
                <a:solidFill>
                  <a:srgbClr val="F4F7FA"/>
                </a:solidFill>
                <a:latin typeface="Arial"/>
                <a:ea typeface="Arial"/>
                <a:cs typeface="Arial"/>
              </a:rPr>
              <a:t>Source → Lexer → Tokens</a:t>
            </a:r>
          </a:p>
        </p:txBody>
      </p:sp>
      <p:sp>
        <p:nvSpPr>
          <p:cNvPr id="30" name="">
            <a:extLst xmlns:a="http://schemas.openxmlformats.org/drawingml/2006/main">
              <a:ext uri="{FF2B5EF4-FFF2-40B4-BE49-F238E27FC236}">
                <a16:creationId xmlns:a16="http://schemas.microsoft.com/office/drawing/2014/main" id="{B9806F15-AFD9-4FDE-B662-37D7CEC23018}"/>
              </a:ext>
            </a:extLst>
          </p:cNvPr>
          <p:cNvSpPr>
            <a:spLocks xmlns:a="http://schemas.openxmlformats.org/drawingml/2006/main" noGrp="1"/>
          </p:cNvSpPr>
          <p:nvPr/>
        </p:nvSpPr>
        <p:spPr>
          <a:xfrm xmlns:a="http://schemas.openxmlformats.org/drawingml/2006/main">
            <a:off x="10810875" y="3324225"/>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550" b="0">
                <a:solidFill>
                  <a:srgbClr val="B6E653"/>
                </a:solidFill>
                <a:latin typeface="Arial"/>
                <a:ea typeface="Arial"/>
                <a:cs typeface="Arial"/>
              </a:defRPr>
            </a:pPr>
            <a:r>
              <a:rPr sz="2550" b="0">
                <a:solidFill>
                  <a:srgbClr val="B6E653"/>
                </a:solidFill>
                <a:latin typeface="Arial"/>
                <a:ea typeface="Arial"/>
                <a:cs typeface="Arial"/>
              </a:rPr>
              <a:t>↓</a:t>
            </a:r>
          </a:p>
        </p:txBody>
      </p:sp>
      <p:sp>
        <p:nvSpPr>
          <p:cNvPr id="31" name="">
            <a:extLst xmlns:a="http://schemas.openxmlformats.org/drawingml/2006/main">
              <a:ext uri="{FF2B5EF4-FFF2-40B4-BE49-F238E27FC236}">
                <a16:creationId xmlns:a16="http://schemas.microsoft.com/office/drawing/2014/main" id="{ACE2C9BF-7F0D-4354-9860-64DDE076294B}"/>
              </a:ext>
            </a:extLst>
          </p:cNvPr>
          <p:cNvSpPr>
            <a:spLocks xmlns:a="http://schemas.openxmlformats.org/drawingml/2006/main" noGrp="1"/>
          </p:cNvSpPr>
          <p:nvPr/>
        </p:nvSpPr>
        <p:spPr>
          <a:xfrm xmlns:a="http://schemas.openxmlformats.org/drawingml/2006/main">
            <a:off x="8572500" y="378142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Parser → AST → Semantic checks</a:t>
            </a:r>
          </a:p>
        </p:txBody>
      </p:sp>
      <p:sp>
        <p:nvSpPr>
          <p:cNvPr id="32" name="">
            <a:extLst xmlns:a="http://schemas.openxmlformats.org/drawingml/2006/main">
              <a:ext uri="{FF2B5EF4-FFF2-40B4-BE49-F238E27FC236}">
                <a16:creationId xmlns:a16="http://schemas.microsoft.com/office/drawing/2014/main" id="{4790E313-0E29-4EA3-8A4A-E102253BC877}"/>
              </a:ext>
            </a:extLst>
          </p:cNvPr>
          <p:cNvSpPr>
            <a:spLocks xmlns:a="http://schemas.openxmlformats.org/drawingml/2006/main" noGrp="1"/>
          </p:cNvSpPr>
          <p:nvPr/>
        </p:nvSpPr>
        <p:spPr>
          <a:xfrm xmlns:a="http://schemas.openxmlformats.org/drawingml/2006/main">
            <a:off x="10810875" y="4267200"/>
            <a:ext cx="66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550" b="0">
                <a:solidFill>
                  <a:srgbClr val="B6E653"/>
                </a:solidFill>
                <a:latin typeface="Arial"/>
                <a:ea typeface="Arial"/>
                <a:cs typeface="Arial"/>
              </a:defRPr>
            </a:pPr>
            <a:r>
              <a:rPr sz="2550" b="0">
                <a:solidFill>
                  <a:srgbClr val="B6E653"/>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A21E52F0-FE1F-4B08-98BC-8534339D0D02}"/>
              </a:ext>
            </a:extLst>
          </p:cNvPr>
          <p:cNvSpPr>
            <a:spLocks xmlns:a="http://schemas.openxmlformats.org/drawingml/2006/main" noGrp="1"/>
          </p:cNvSpPr>
          <p:nvPr/>
        </p:nvSpPr>
        <p:spPr>
          <a:xfrm xmlns:a="http://schemas.openxmlformats.org/drawingml/2006/main">
            <a:off x="8572500" y="47529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0">
                <a:solidFill>
                  <a:srgbClr val="F4F7FA"/>
                </a:solidFill>
                <a:latin typeface="Arial"/>
                <a:ea typeface="Arial"/>
                <a:cs typeface="Arial"/>
              </a:defRPr>
            </a:pPr>
            <a:r>
              <a:rPr sz="2250" b="0">
                <a:solidFill>
                  <a:srgbClr val="F4F7FA"/>
                </a:solidFill>
                <a:latin typeface="Arial"/>
                <a:ea typeface="Arial"/>
                <a:cs typeface="Arial"/>
              </a:rPr>
              <a:t>Interpreter → Runtime result</a:t>
            </a:r>
          </a:p>
        </p:txBody>
      </p:sp>
      <p:sp>
        <p:nvSpPr>
          <p:cNvPr id="34" name="">
            <a:extLst xmlns:a="http://schemas.openxmlformats.org/drawingml/2006/main">
              <a:ext uri="{FF2B5EF4-FFF2-40B4-BE49-F238E27FC236}">
                <a16:creationId xmlns:a16="http://schemas.microsoft.com/office/drawing/2014/main" id="{286E9ECA-B9C5-42D9-9703-9B30D0129B55}"/>
              </a:ext>
            </a:extLst>
          </p:cNvPr>
          <p:cNvSpPr>
            <a:spLocks xmlns:a="http://schemas.openxmlformats.org/drawingml/2006/main" noGrp="1"/>
          </p:cNvSpPr>
          <p:nvPr/>
        </p:nvSpPr>
        <p:spPr>
          <a:xfrm xmlns:a="http://schemas.openxmlformats.org/drawingml/2006/main">
            <a:off x="8572500" y="5695950"/>
            <a:ext cx="5905500" cy="7239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A838677-C6E7-418C-BC3D-BE09CB7E9E5D}"/>
              </a:ext>
            </a:extLst>
          </p:cNvPr>
          <p:cNvSpPr>
            <a:spLocks xmlns:a="http://schemas.openxmlformats.org/drawingml/2006/main" noGrp="1"/>
          </p:cNvSpPr>
          <p:nvPr/>
        </p:nvSpPr>
        <p:spPr>
          <a:xfrm xmlns:a="http://schemas.openxmlformats.org/drawingml/2006/main">
            <a:off x="8782050" y="5876925"/>
            <a:ext cx="5486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var x = 10 + 20;</a:t>
            </a:r>
          </a:p>
        </p:txBody>
      </p:sp>
      <p:sp>
        <p:nvSpPr>
          <p:cNvPr id="36" name="">
            <a:extLst xmlns:a="http://schemas.openxmlformats.org/drawingml/2006/main">
              <a:ext uri="{FF2B5EF4-FFF2-40B4-BE49-F238E27FC236}">
                <a16:creationId xmlns:a16="http://schemas.microsoft.com/office/drawing/2014/main" id="{4BB2BAA6-0BF4-4316-BBE8-F9AF64B3E42E}"/>
              </a:ext>
            </a:extLst>
          </p:cNvPr>
          <p:cNvSpPr>
            <a:spLocks xmlns:a="http://schemas.openxmlformats.org/drawingml/2006/main" noGrp="1"/>
          </p:cNvSpPr>
          <p:nvPr/>
        </p:nvSpPr>
        <p:spPr>
          <a:xfrm xmlns:a="http://schemas.openxmlformats.org/drawingml/2006/main">
            <a:off x="8572500" y="6591300"/>
            <a:ext cx="590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Declaration(x) with Binary(+, 10, 20)</a:t>
            </a:r>
          </a:p>
        </p:txBody>
      </p:sp>
    </p:spTree>
    <p:extLst>
      <p:ext uri="{BB962C8B-B14F-4D97-AF65-F5344CB8AC3E}">
        <p14:creationId xmlns:p14="http://schemas.microsoft.com/office/powerpoint/2010/main" val="901129592"/>
      </p:ext>
    </p:extLst>
  </p:cSld>
</p:sld>
</file>

<file path=ppt/slides/slide3.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855C314-DF45-4A0C-8057-08CD6EB470CA}"/>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C3D11618-FB08-4627-8059-8A8D2B96C5B4}"/>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Variables do not have fixed types; values do.</a:t>
            </a:r>
          </a:p>
        </p:txBody>
      </p:sp>
      <p:sp>
        <p:nvSpPr>
          <p:cNvPr id="3" name="">
            <a:extLst xmlns:a="http://schemas.openxmlformats.org/drawingml/2006/main">
              <a:ext uri="{FF2B5EF4-FFF2-40B4-BE49-F238E27FC236}">
                <a16:creationId xmlns:a16="http://schemas.microsoft.com/office/drawing/2014/main" id="{6409C582-5AB6-412F-86E2-4113D5D71187}"/>
              </a:ext>
            </a:extLst>
          </p:cNvPr>
          <p:cNvSpPr>
            <a:spLocks xmlns:a="http://schemas.openxmlformats.org/drawingml/2006/main" noGrp="1"/>
          </p:cNvSpPr>
          <p:nvPr/>
        </p:nvSpPr>
        <p:spPr>
          <a:xfrm xmlns:a="http://schemas.openxmlformats.org/drawingml/2006/main">
            <a:off x="762000" y="15716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Dynamic typing allows a variable to reference different kinds of values.</a:t>
            </a:r>
          </a:p>
        </p:txBody>
      </p:sp>
      <p:sp>
        <p:nvSpPr>
          <p:cNvPr id="4" name="">
            <a:extLst xmlns:a="http://schemas.openxmlformats.org/drawingml/2006/main">
              <a:ext uri="{FF2B5EF4-FFF2-40B4-BE49-F238E27FC236}">
                <a16:creationId xmlns:a16="http://schemas.microsoft.com/office/drawing/2014/main" id="{D35E46E1-861D-45AC-BCDF-420CC79BEE39}"/>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A37EA8-344D-4F13-9145-7C2E8371A797}"/>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481BA9B8-032E-4555-96B7-B7C1990C2069}"/>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01AAF969-17E8-4CC1-A7BD-829A94A2373F}"/>
              </a:ext>
            </a:extLst>
          </p:cNvPr>
          <p:cNvSpPr>
            <a:spLocks xmlns:a="http://schemas.openxmlformats.org/drawingml/2006/main" noGrp="1"/>
          </p:cNvSpPr>
          <p:nvPr/>
        </p:nvSpPr>
        <p:spPr>
          <a:xfrm xmlns:a="http://schemas.openxmlformats.org/drawingml/2006/main">
            <a:off x="762000" y="23812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550" b="1">
                <a:solidFill>
                  <a:srgbClr val="B6E653"/>
                </a:solidFill>
                <a:latin typeface="Arial"/>
                <a:ea typeface="Arial"/>
                <a:cs typeface="Arial"/>
              </a:defRPr>
            </a:pPr>
            <a:r>
              <a:rPr sz="2550" b="1">
                <a:solidFill>
                  <a:srgbClr val="B6E653"/>
                </a:solidFill>
                <a:latin typeface="Arial"/>
                <a:ea typeface="Arial"/>
                <a:cs typeface="Arial"/>
              </a:rPr>
              <a:t>Primitive values</a:t>
            </a:r>
          </a:p>
        </p:txBody>
      </p:sp>
      <p:sp>
        <p:nvSpPr>
          <p:cNvPr id="8" name="">
            <a:extLst xmlns:a="http://schemas.openxmlformats.org/drawingml/2006/main">
              <a:ext uri="{FF2B5EF4-FFF2-40B4-BE49-F238E27FC236}">
                <a16:creationId xmlns:a16="http://schemas.microsoft.com/office/drawing/2014/main" id="{A2EA5EB6-F2B0-45A0-B133-DFEFEBDA64D0}"/>
              </a:ext>
            </a:extLst>
          </p:cNvPr>
          <p:cNvSpPr>
            <a:spLocks xmlns:a="http://schemas.openxmlformats.org/drawingml/2006/main" noGrp="1"/>
          </p:cNvSpPr>
          <p:nvPr/>
        </p:nvSpPr>
        <p:spPr>
          <a:xfrm xmlns:a="http://schemas.openxmlformats.org/drawingml/2006/main">
            <a:off x="762000" y="3048000"/>
            <a:ext cx="676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integer   •   real   •   boolean   •   string</a:t>
            </a:r>
          </a:p>
        </p:txBody>
      </p:sp>
      <p:sp>
        <p:nvSpPr>
          <p:cNvPr id="9" name="">
            <a:extLst xmlns:a="http://schemas.openxmlformats.org/drawingml/2006/main">
              <a:ext uri="{FF2B5EF4-FFF2-40B4-BE49-F238E27FC236}">
                <a16:creationId xmlns:a16="http://schemas.microsoft.com/office/drawing/2014/main" id="{36B93E92-68B7-4215-99D1-EF201CE19A7C}"/>
              </a:ext>
            </a:extLst>
          </p:cNvPr>
          <p:cNvSpPr>
            <a:spLocks xmlns:a="http://schemas.openxmlformats.org/drawingml/2006/main" noGrp="1"/>
          </p:cNvSpPr>
          <p:nvPr/>
        </p:nvSpPr>
        <p:spPr>
          <a:xfrm xmlns:a="http://schemas.openxmlformats.org/drawingml/2006/main">
            <a:off x="762000" y="4381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550" b="1">
                <a:solidFill>
                  <a:srgbClr val="B6E653"/>
                </a:solidFill>
                <a:latin typeface="Arial"/>
                <a:ea typeface="Arial"/>
                <a:cs typeface="Arial"/>
              </a:defRPr>
            </a:pPr>
            <a:r>
              <a:rPr sz="2550" b="1">
                <a:solidFill>
                  <a:srgbClr val="B6E653"/>
                </a:solidFill>
                <a:latin typeface="Arial"/>
                <a:ea typeface="Arial"/>
                <a:cs typeface="Arial"/>
              </a:rPr>
              <a:t>Composite values</a:t>
            </a:r>
          </a:p>
        </p:txBody>
      </p:sp>
      <p:sp>
        <p:nvSpPr>
          <p:cNvPr id="10" name="">
            <a:extLst xmlns:a="http://schemas.openxmlformats.org/drawingml/2006/main">
              <a:ext uri="{FF2B5EF4-FFF2-40B4-BE49-F238E27FC236}">
                <a16:creationId xmlns:a16="http://schemas.microsoft.com/office/drawing/2014/main" id="{90465146-863D-4E50-859F-B9BA9B4EE636}"/>
              </a:ext>
            </a:extLst>
          </p:cNvPr>
          <p:cNvSpPr>
            <a:spLocks xmlns:a="http://schemas.openxmlformats.org/drawingml/2006/main" noGrp="1"/>
          </p:cNvSpPr>
          <p:nvPr/>
        </p:nvSpPr>
        <p:spPr>
          <a:xfrm xmlns:a="http://schemas.openxmlformats.org/drawingml/2006/main">
            <a:off x="762000" y="5048250"/>
            <a:ext cx="676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array   •   tuple   •   function</a:t>
            </a:r>
          </a:p>
        </p:txBody>
      </p:sp>
      <p:sp>
        <p:nvSpPr>
          <p:cNvPr id="11" name="">
            <a:extLst xmlns:a="http://schemas.openxmlformats.org/drawingml/2006/main">
              <a:ext uri="{FF2B5EF4-FFF2-40B4-BE49-F238E27FC236}">
                <a16:creationId xmlns:a16="http://schemas.microsoft.com/office/drawing/2014/main" id="{49180B36-4C21-458F-9A36-442B17EC7F87}"/>
              </a:ext>
            </a:extLst>
          </p:cNvPr>
          <p:cNvSpPr>
            <a:spLocks xmlns:a="http://schemas.openxmlformats.org/drawingml/2006/main" noGrp="1"/>
          </p:cNvSpPr>
          <p:nvPr/>
        </p:nvSpPr>
        <p:spPr>
          <a:xfrm xmlns:a="http://schemas.openxmlformats.org/drawingml/2006/main">
            <a:off x="8334375" y="2447925"/>
            <a:ext cx="6143625" cy="215265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1444D03-E21E-495A-B01D-E5472ABEC1D5}"/>
              </a:ext>
            </a:extLst>
          </p:cNvPr>
          <p:cNvSpPr>
            <a:spLocks xmlns:a="http://schemas.openxmlformats.org/drawingml/2006/main" noGrp="1"/>
          </p:cNvSpPr>
          <p:nvPr/>
        </p:nvSpPr>
        <p:spPr>
          <a:xfrm xmlns:a="http://schemas.openxmlformats.org/drawingml/2006/main">
            <a:off x="8543925" y="2628900"/>
            <a:ext cx="5724525"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775" b="0">
                <a:solidFill>
                  <a:srgbClr val="F4F7FA"/>
                </a:solidFill>
                <a:latin typeface="DejaVu Sans Mono"/>
                <a:ea typeface="DejaVu Sans Mono"/>
                <a:cs typeface="DejaVu Sans Mono"/>
              </a:defRPr>
            </a:pPr>
            <a:r>
              <a:rPr sz="2775" b="0">
                <a:solidFill>
                  <a:srgbClr val="F4F7FA"/>
                </a:solidFill>
                <a:latin typeface="DejaVu Sans Mono"/>
                <a:ea typeface="DejaVu Sans Mono"/>
                <a:cs typeface="DejaVu Sans Mono"/>
              </a:rPr>
              <a:t>var x = 10;</a:t>
            </a:r>
          </a:p>
          <a:p xmlns:a="http://schemas.openxmlformats.org/drawingml/2006/main">
            <a:pPr>
              <a:buNone/>
              <a:defRPr sz="2775" b="0">
                <a:solidFill>
                  <a:srgbClr val="F4F7FA"/>
                </a:solidFill>
                <a:latin typeface="DejaVu Sans Mono"/>
                <a:ea typeface="DejaVu Sans Mono"/>
                <a:cs typeface="DejaVu Sans Mono"/>
              </a:defRPr>
            </a:pPr>
            <a:r>
              <a:rPr sz="2775" b="0">
                <a:solidFill>
                  <a:srgbClr val="F4F7FA"/>
                </a:solidFill>
                <a:latin typeface="DejaVu Sans Mono"/>
                <a:ea typeface="DejaVu Sans Mono"/>
                <a:cs typeface="DejaVu Sans Mono"/>
              </a:rPr>
              <a:t>x = "hello";</a:t>
            </a:r>
          </a:p>
          <a:p xmlns:a="http://schemas.openxmlformats.org/drawingml/2006/main">
            <a:pPr>
              <a:buNone/>
              <a:defRPr sz="2775" b="0">
                <a:solidFill>
                  <a:srgbClr val="F4F7FA"/>
                </a:solidFill>
                <a:latin typeface="DejaVu Sans Mono"/>
                <a:ea typeface="DejaVu Sans Mono"/>
                <a:cs typeface="DejaVu Sans Mono"/>
              </a:defRPr>
            </a:pPr>
            <a:r>
              <a:rPr sz="2775" b="0">
                <a:solidFill>
                  <a:srgbClr val="F4F7FA"/>
                </a:solidFill>
                <a:latin typeface="DejaVu Sans Mono"/>
                <a:ea typeface="DejaVu Sans Mono"/>
                <a:cs typeface="DejaVu Sans Mono"/>
              </a:rPr>
              <a:t>x = true;</a:t>
            </a:r>
          </a:p>
        </p:txBody>
      </p:sp>
      <p:sp>
        <p:nvSpPr>
          <p:cNvPr id="13" name="">
            <a:extLst xmlns:a="http://schemas.openxmlformats.org/drawingml/2006/main">
              <a:ext uri="{FF2B5EF4-FFF2-40B4-BE49-F238E27FC236}">
                <a16:creationId xmlns:a16="http://schemas.microsoft.com/office/drawing/2014/main" id="{D0005E5E-E3D4-4022-8957-B0A93663AAD3}"/>
              </a:ext>
            </a:extLst>
          </p:cNvPr>
          <p:cNvSpPr>
            <a:spLocks xmlns:a="http://schemas.openxmlformats.org/drawingml/2006/main" noGrp="1"/>
          </p:cNvSpPr>
          <p:nvPr/>
        </p:nvSpPr>
        <p:spPr>
          <a:xfrm xmlns:a="http://schemas.openxmlformats.org/drawingml/2006/main">
            <a:off x="8334375" y="4867275"/>
            <a:ext cx="6143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B6E653"/>
                </a:solidFill>
                <a:latin typeface="Arial"/>
                <a:ea typeface="Arial"/>
                <a:cs typeface="Arial"/>
              </a:defRPr>
            </a:pPr>
            <a:r>
              <a:rPr sz="2175" b="1">
                <a:solidFill>
                  <a:srgbClr val="B6E653"/>
                </a:solidFill>
                <a:latin typeface="Arial"/>
                <a:ea typeface="Arial"/>
                <a:cs typeface="Arial"/>
              </a:rPr>
              <a:t>Valid: assignment changes the value.</a:t>
            </a:r>
          </a:p>
        </p:txBody>
      </p:sp>
      <p:sp>
        <p:nvSpPr>
          <p:cNvPr id="14" name="">
            <a:extLst xmlns:a="http://schemas.openxmlformats.org/drawingml/2006/main">
              <a:ext uri="{FF2B5EF4-FFF2-40B4-BE49-F238E27FC236}">
                <a16:creationId xmlns:a16="http://schemas.microsoft.com/office/drawing/2014/main" id="{2AF8BD6B-8776-497E-9623-5FA84427CC61}"/>
              </a:ext>
            </a:extLst>
          </p:cNvPr>
          <p:cNvSpPr>
            <a:spLocks xmlns:a="http://schemas.openxmlformats.org/drawingml/2006/main" noGrp="1"/>
          </p:cNvSpPr>
          <p:nvPr/>
        </p:nvSpPr>
        <p:spPr>
          <a:xfrm xmlns:a="http://schemas.openxmlformats.org/drawingml/2006/main">
            <a:off x="762000" y="6791325"/>
            <a:ext cx="1371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0">
                <a:solidFill>
                  <a:srgbClr val="F4F7FA"/>
                </a:solidFill>
                <a:latin typeface="Arial"/>
                <a:ea typeface="Arial"/>
                <a:cs typeface="Arial"/>
              </a:defRPr>
            </a:pPr>
            <a:r>
              <a:rPr sz="2250" b="0">
                <a:solidFill>
                  <a:srgbClr val="F4F7FA"/>
                </a:solidFill>
                <a:latin typeface="Arial"/>
                <a:ea typeface="Arial"/>
                <a:cs typeface="Arial"/>
              </a:rPr>
              <a:t>Statements: var, assignment, if / else, while, return, input / output</a:t>
            </a:r>
          </a:p>
        </p:txBody>
      </p:sp>
    </p:spTree>
    <p:extLst>
      <p:ext uri="{BB962C8B-B14F-4D97-AF65-F5344CB8AC3E}">
        <p14:creationId xmlns:p14="http://schemas.microsoft.com/office/powerpoint/2010/main" val="389642388"/>
      </p:ext>
    </p:extLst>
  </p:cSld>
</p:sld>
</file>

<file path=ppt/slides/slide4.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CEA757-4C43-4F83-9F6E-29A6F74AF1D2}"/>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1322B09F-0A55-4494-B48E-EF558F8C4BEF}"/>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Explicit syntax, predictable runtime rules</a:t>
            </a:r>
          </a:p>
        </p:txBody>
      </p:sp>
      <p:sp>
        <p:nvSpPr>
          <p:cNvPr id="3" name="">
            <a:extLst xmlns:a="http://schemas.openxmlformats.org/drawingml/2006/main">
              <a:ext uri="{FF2B5EF4-FFF2-40B4-BE49-F238E27FC236}">
                <a16:creationId xmlns:a16="http://schemas.microsoft.com/office/drawing/2014/main" id="{B522A65E-83F3-4D15-ADD3-496F23634CDA}"/>
              </a:ext>
            </a:extLst>
          </p:cNvPr>
          <p:cNvSpPr>
            <a:spLocks xmlns:a="http://schemas.openxmlformats.org/drawingml/2006/main" noGrp="1"/>
          </p:cNvSpPr>
          <p:nvPr/>
        </p:nvSpPr>
        <p:spPr>
          <a:xfrm xmlns:a="http://schemas.openxmlformats.org/drawingml/2006/main">
            <a:off x="762000" y="15716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Our choices keep the specification expressive and practical to implement.</a:t>
            </a:r>
          </a:p>
        </p:txBody>
      </p:sp>
      <p:sp>
        <p:nvSpPr>
          <p:cNvPr id="4" name="">
            <a:extLst xmlns:a="http://schemas.openxmlformats.org/drawingml/2006/main">
              <a:ext uri="{FF2B5EF4-FFF2-40B4-BE49-F238E27FC236}">
                <a16:creationId xmlns:a16="http://schemas.microsoft.com/office/drawing/2014/main" id="{F8393608-0294-42F8-B8C8-B047EA1E6018}"/>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4DDB68-375A-44B2-9686-68F79020DD9B}"/>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2789B6D7-59C7-44C2-8DB4-1D4E3006241B}"/>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D809935A-ED61-43D4-B4B3-4C57529FCD7F}"/>
              </a:ext>
            </a:extLst>
          </p:cNvPr>
          <p:cNvSpPr>
            <a:spLocks xmlns:a="http://schemas.openxmlformats.org/drawingml/2006/main" noGrp="1"/>
          </p:cNvSpPr>
          <p:nvPr/>
        </p:nvSpPr>
        <p:spPr>
          <a:xfrm xmlns:a="http://schemas.openxmlformats.org/drawingml/2006/main">
            <a:off x="762000" y="23431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325" b="1">
                <a:solidFill>
                  <a:srgbClr val="B6E653"/>
                </a:solidFill>
                <a:latin typeface="Arial"/>
                <a:ea typeface="Arial"/>
                <a:cs typeface="Arial"/>
              </a:defRPr>
            </a:pPr>
            <a:r>
              <a:rPr sz="2325" b="1">
                <a:solidFill>
                  <a:srgbClr val="B6E653"/>
                </a:solidFill>
                <a:latin typeface="Arial"/>
                <a:ea typeface="Arial"/>
                <a:cs typeface="Arial"/>
              </a:rPr>
              <a:t>Declarations &amp; blocks</a:t>
            </a:r>
          </a:p>
        </p:txBody>
      </p:sp>
      <p:sp>
        <p:nvSpPr>
          <p:cNvPr id="8" name="">
            <a:extLst xmlns:a="http://schemas.openxmlformats.org/drawingml/2006/main">
              <a:ext uri="{FF2B5EF4-FFF2-40B4-BE49-F238E27FC236}">
                <a16:creationId xmlns:a16="http://schemas.microsoft.com/office/drawing/2014/main" id="{B04F2804-5DCD-4457-9A1C-BD918C219BC5}"/>
              </a:ext>
            </a:extLst>
          </p:cNvPr>
          <p:cNvSpPr>
            <a:spLocks xmlns:a="http://schemas.openxmlformats.org/drawingml/2006/main" noGrp="1"/>
          </p:cNvSpPr>
          <p:nvPr/>
        </p:nvSpPr>
        <p:spPr>
          <a:xfrm xmlns:a="http://schemas.openxmlformats.org/drawingml/2006/main">
            <a:off x="4476750" y="234315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var introduces names; braces and semicolons delimit code.</a:t>
            </a:r>
          </a:p>
        </p:txBody>
      </p:sp>
      <p:sp>
        <p:nvSpPr>
          <p:cNvPr id="9" name="">
            <a:extLst xmlns:a="http://schemas.openxmlformats.org/drawingml/2006/main">
              <a:ext uri="{FF2B5EF4-FFF2-40B4-BE49-F238E27FC236}">
                <a16:creationId xmlns:a16="http://schemas.microsoft.com/office/drawing/2014/main" id="{0933DB65-F126-4271-85E1-265231799531}"/>
              </a:ext>
            </a:extLst>
          </p:cNvPr>
          <p:cNvSpPr>
            <a:spLocks xmlns:a="http://schemas.openxmlformats.org/drawingml/2006/main" noGrp="1"/>
          </p:cNvSpPr>
          <p:nvPr/>
        </p:nvSpPr>
        <p:spPr>
          <a:xfrm xmlns:a="http://schemas.openxmlformats.org/drawingml/2006/main">
            <a:off x="762000" y="324802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325" b="1">
                <a:solidFill>
                  <a:srgbClr val="B6E653"/>
                </a:solidFill>
                <a:latin typeface="Arial"/>
                <a:ea typeface="Arial"/>
                <a:cs typeface="Arial"/>
              </a:defRPr>
            </a:pPr>
            <a:r>
              <a:rPr sz="2325" b="1">
                <a:solidFill>
                  <a:srgbClr val="B6E653"/>
                </a:solidFill>
                <a:latin typeface="Arial"/>
                <a:ea typeface="Arial"/>
                <a:cs typeface="Arial"/>
              </a:rPr>
              <a:t>Conversions</a:t>
            </a:r>
          </a:p>
        </p:txBody>
      </p:sp>
      <p:sp>
        <p:nvSpPr>
          <p:cNvPr id="10" name="">
            <a:extLst xmlns:a="http://schemas.openxmlformats.org/drawingml/2006/main">
              <a:ext uri="{FF2B5EF4-FFF2-40B4-BE49-F238E27FC236}">
                <a16:creationId xmlns:a16="http://schemas.microsoft.com/office/drawing/2014/main" id="{CB2C88AE-2788-4E51-B90D-1BDCA8125AA5}"/>
              </a:ext>
            </a:extLst>
          </p:cNvPr>
          <p:cNvSpPr>
            <a:spLocks xmlns:a="http://schemas.openxmlformats.org/drawingml/2006/main" noGrp="1"/>
          </p:cNvSpPr>
          <p:nvPr/>
        </p:nvSpPr>
        <p:spPr>
          <a:xfrm xmlns:a="http://schemas.openxmlformats.org/drawingml/2006/main">
            <a:off x="4476750" y="3248025"/>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integer → real; string + value converts the value to text.</a:t>
            </a:r>
          </a:p>
        </p:txBody>
      </p:sp>
      <p:sp>
        <p:nvSpPr>
          <p:cNvPr id="11" name="">
            <a:extLst xmlns:a="http://schemas.openxmlformats.org/drawingml/2006/main">
              <a:ext uri="{FF2B5EF4-FFF2-40B4-BE49-F238E27FC236}">
                <a16:creationId xmlns:a16="http://schemas.microsoft.com/office/drawing/2014/main" id="{FD4991C4-D00E-43C1-8EFA-852BC4A4C13B}"/>
              </a:ext>
            </a:extLst>
          </p:cNvPr>
          <p:cNvSpPr>
            <a:spLocks xmlns:a="http://schemas.openxmlformats.org/drawingml/2006/main" noGrp="1"/>
          </p:cNvSpPr>
          <p:nvPr/>
        </p:nvSpPr>
        <p:spPr>
          <a:xfrm xmlns:a="http://schemas.openxmlformats.org/drawingml/2006/main">
            <a:off x="762000" y="41529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325" b="1">
                <a:solidFill>
                  <a:srgbClr val="B6E653"/>
                </a:solidFill>
                <a:latin typeface="Arial"/>
                <a:ea typeface="Arial"/>
                <a:cs typeface="Arial"/>
              </a:defRPr>
            </a:pPr>
            <a:r>
              <a:rPr sz="2325" b="1">
                <a:solidFill>
                  <a:srgbClr val="B6E653"/>
                </a:solidFill>
                <a:latin typeface="Arial"/>
                <a:ea typeface="Arial"/>
                <a:cs typeface="Arial"/>
              </a:rPr>
              <a:t>Collections</a:t>
            </a:r>
          </a:p>
        </p:txBody>
      </p:sp>
      <p:sp>
        <p:nvSpPr>
          <p:cNvPr id="12" name="">
            <a:extLst xmlns:a="http://schemas.openxmlformats.org/drawingml/2006/main">
              <a:ext uri="{FF2B5EF4-FFF2-40B4-BE49-F238E27FC236}">
                <a16:creationId xmlns:a16="http://schemas.microsoft.com/office/drawing/2014/main" id="{406E79B5-2A8D-4F34-A8A0-183C2990A780}"/>
              </a:ext>
            </a:extLst>
          </p:cNvPr>
          <p:cNvSpPr>
            <a:spLocks xmlns:a="http://schemas.openxmlformats.org/drawingml/2006/main" noGrp="1"/>
          </p:cNvSpPr>
          <p:nvPr/>
        </p:nvSpPr>
        <p:spPr>
          <a:xfrm xmlns:a="http://schemas.openxmlformats.org/drawingml/2006/main">
            <a:off x="4476750" y="4152900"/>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Mutable heterogeneous arrays; immutable tuples.</a:t>
            </a:r>
          </a:p>
        </p:txBody>
      </p:sp>
      <p:sp>
        <p:nvSpPr>
          <p:cNvPr id="13" name="">
            <a:extLst xmlns:a="http://schemas.openxmlformats.org/drawingml/2006/main">
              <a:ext uri="{FF2B5EF4-FFF2-40B4-BE49-F238E27FC236}">
                <a16:creationId xmlns:a16="http://schemas.microsoft.com/office/drawing/2014/main" id="{6E83EA72-B081-4452-B69B-9CBD4F2BBACB}"/>
              </a:ext>
            </a:extLst>
          </p:cNvPr>
          <p:cNvSpPr>
            <a:spLocks xmlns:a="http://schemas.openxmlformats.org/drawingml/2006/main" noGrp="1"/>
          </p:cNvSpPr>
          <p:nvPr/>
        </p:nvSpPr>
        <p:spPr>
          <a:xfrm xmlns:a="http://schemas.openxmlformats.org/drawingml/2006/main">
            <a:off x="762000" y="50577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325" b="1">
                <a:solidFill>
                  <a:srgbClr val="B6E653"/>
                </a:solidFill>
                <a:latin typeface="Arial"/>
                <a:ea typeface="Arial"/>
                <a:cs typeface="Arial"/>
              </a:defRPr>
            </a:pPr>
            <a:r>
              <a:rPr sz="2325" b="1">
                <a:solidFill>
                  <a:srgbClr val="B6E653"/>
                </a:solidFill>
                <a:latin typeface="Arial"/>
                <a:ea typeface="Arial"/>
                <a:cs typeface="Arial"/>
              </a:rPr>
              <a:t>Functions &amp; scope</a:t>
            </a:r>
          </a:p>
        </p:txBody>
      </p:sp>
      <p:sp>
        <p:nvSpPr>
          <p:cNvPr id="14" name="">
            <a:extLst xmlns:a="http://schemas.openxmlformats.org/drawingml/2006/main">
              <a:ext uri="{FF2B5EF4-FFF2-40B4-BE49-F238E27FC236}">
                <a16:creationId xmlns:a16="http://schemas.microsoft.com/office/drawing/2014/main" id="{50900CD4-7D4E-40EE-AD7D-AE4D37A4102F}"/>
              </a:ext>
            </a:extLst>
          </p:cNvPr>
          <p:cNvSpPr>
            <a:spLocks xmlns:a="http://schemas.openxmlformats.org/drawingml/2006/main" noGrp="1"/>
          </p:cNvSpPr>
          <p:nvPr/>
        </p:nvSpPr>
        <p:spPr>
          <a:xfrm xmlns:a="http://schemas.openxmlformats.org/drawingml/2006/main">
            <a:off x="4476750" y="5057775"/>
            <a:ext cx="1000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0">
                <a:solidFill>
                  <a:srgbClr val="F4F7FA"/>
                </a:solidFill>
                <a:latin typeface="Arial"/>
                <a:ea typeface="Arial"/>
                <a:cs typeface="Arial"/>
              </a:defRPr>
            </a:pPr>
            <a:r>
              <a:rPr sz="2175" b="0">
                <a:solidFill>
                  <a:srgbClr val="F4F7FA"/>
                </a:solidFill>
                <a:latin typeface="Arial"/>
                <a:ea typeface="Arial"/>
                <a:cs typeface="Arial"/>
              </a:rPr>
              <a:t>First-class functions, lambdas and captured lexical environments.</a:t>
            </a:r>
          </a:p>
        </p:txBody>
      </p:sp>
      <p:sp>
        <p:nvSpPr>
          <p:cNvPr id="15" name="">
            <a:extLst xmlns:a="http://schemas.openxmlformats.org/drawingml/2006/main">
              <a:ext uri="{FF2B5EF4-FFF2-40B4-BE49-F238E27FC236}">
                <a16:creationId xmlns:a16="http://schemas.microsoft.com/office/drawing/2014/main" id="{9E8F2E78-5B24-4611-B665-942C2A9F205C}"/>
              </a:ext>
            </a:extLst>
          </p:cNvPr>
          <p:cNvSpPr>
            <a:spLocks xmlns:a="http://schemas.openxmlformats.org/drawingml/2006/main" noGrp="1"/>
          </p:cNvSpPr>
          <p:nvPr/>
        </p:nvSpPr>
        <p:spPr>
          <a:xfrm xmlns:a="http://schemas.openxmlformats.org/drawingml/2006/main">
            <a:off x="762000" y="6191250"/>
            <a:ext cx="13716000" cy="1524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053AE7-CAA7-47B0-83A4-7249F9A466F4}"/>
              </a:ext>
            </a:extLst>
          </p:cNvPr>
          <p:cNvSpPr>
            <a:spLocks xmlns:a="http://schemas.openxmlformats.org/drawingml/2006/main" noGrp="1"/>
          </p:cNvSpPr>
          <p:nvPr/>
        </p:nvSpPr>
        <p:spPr>
          <a:xfrm xmlns:a="http://schemas.openxmlformats.org/drawingml/2006/main">
            <a:off x="1000125" y="63531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B6E653"/>
                </a:solidFill>
                <a:latin typeface="Arial"/>
                <a:ea typeface="Arial"/>
                <a:cs typeface="Arial"/>
              </a:defRPr>
            </a:pPr>
            <a:r>
              <a:rPr sz="2175" b="1">
                <a:solidFill>
                  <a:srgbClr val="B6E653"/>
                </a:solidFill>
                <a:latin typeface="Arial"/>
                <a:ea typeface="Arial"/>
                <a:cs typeface="Arial"/>
              </a:rPr>
              <a:t>Before execution</a:t>
            </a:r>
          </a:p>
        </p:txBody>
      </p:sp>
      <p:sp>
        <p:nvSpPr>
          <p:cNvPr id="17" name="">
            <a:extLst xmlns:a="http://schemas.openxmlformats.org/drawingml/2006/main">
              <a:ext uri="{FF2B5EF4-FFF2-40B4-BE49-F238E27FC236}">
                <a16:creationId xmlns:a16="http://schemas.microsoft.com/office/drawing/2014/main" id="{85B752B7-E78D-4FDA-B9FA-F4A3CC103031}"/>
              </a:ext>
            </a:extLst>
          </p:cNvPr>
          <p:cNvSpPr>
            <a:spLocks xmlns:a="http://schemas.openxmlformats.org/drawingml/2006/main" noGrp="1"/>
          </p:cNvSpPr>
          <p:nvPr/>
        </p:nvSpPr>
        <p:spPr>
          <a:xfrm xmlns:a="http://schemas.openxmlformats.org/drawingml/2006/main">
            <a:off x="1000125" y="680085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950" b="0">
                <a:solidFill>
                  <a:srgbClr val="F4F7FA"/>
                </a:solidFill>
                <a:latin typeface="Arial"/>
                <a:ea typeface="Arial"/>
                <a:cs typeface="Arial"/>
              </a:defRPr>
            </a:pPr>
            <a:r>
              <a:rPr sz="1950" b="0">
                <a:solidFill>
                  <a:srgbClr val="F4F7FA"/>
                </a:solidFill>
                <a:latin typeface="Arial"/>
                <a:ea typeface="Arial"/>
                <a:cs typeface="Arial"/>
              </a:rPr>
              <a:t>Invalid assignment target; return outside a function.</a:t>
            </a:r>
          </a:p>
        </p:txBody>
      </p:sp>
      <p:sp>
        <p:nvSpPr>
          <p:cNvPr id="18" name="">
            <a:extLst xmlns:a="http://schemas.openxmlformats.org/drawingml/2006/main">
              <a:ext uri="{FF2B5EF4-FFF2-40B4-BE49-F238E27FC236}">
                <a16:creationId xmlns:a16="http://schemas.microsoft.com/office/drawing/2014/main" id="{FD904CFD-B9C8-4E10-88AD-CCA2FB793ADD}"/>
              </a:ext>
            </a:extLst>
          </p:cNvPr>
          <p:cNvSpPr>
            <a:spLocks xmlns:a="http://schemas.openxmlformats.org/drawingml/2006/main" noGrp="1"/>
          </p:cNvSpPr>
          <p:nvPr/>
        </p:nvSpPr>
        <p:spPr>
          <a:xfrm xmlns:a="http://schemas.openxmlformats.org/drawingml/2006/main">
            <a:off x="8001000" y="63531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B6E653"/>
                </a:solidFill>
                <a:latin typeface="Arial"/>
                <a:ea typeface="Arial"/>
                <a:cs typeface="Arial"/>
              </a:defRPr>
            </a:pPr>
            <a:r>
              <a:rPr sz="2175" b="1">
                <a:solidFill>
                  <a:srgbClr val="B6E653"/>
                </a:solidFill>
                <a:latin typeface="Arial"/>
                <a:ea typeface="Arial"/>
                <a:cs typeface="Arial"/>
              </a:rPr>
              <a:t>During execution</a:t>
            </a:r>
          </a:p>
        </p:txBody>
      </p:sp>
      <p:sp>
        <p:nvSpPr>
          <p:cNvPr id="19" name="">
            <a:extLst xmlns:a="http://schemas.openxmlformats.org/drawingml/2006/main">
              <a:ext uri="{FF2B5EF4-FFF2-40B4-BE49-F238E27FC236}">
                <a16:creationId xmlns:a16="http://schemas.microsoft.com/office/drawing/2014/main" id="{CF0AC925-DF07-46D3-B691-BF44D40B9311}"/>
              </a:ext>
            </a:extLst>
          </p:cNvPr>
          <p:cNvSpPr>
            <a:spLocks xmlns:a="http://schemas.openxmlformats.org/drawingml/2006/main" noGrp="1"/>
          </p:cNvSpPr>
          <p:nvPr/>
        </p:nvSpPr>
        <p:spPr>
          <a:xfrm xmlns:a="http://schemas.openxmlformats.org/drawingml/2006/main">
            <a:off x="8001000" y="6800850"/>
            <a:ext cx="6191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950" b="0">
                <a:solidFill>
                  <a:srgbClr val="F4F7FA"/>
                </a:solidFill>
                <a:latin typeface="Arial"/>
                <a:ea typeface="Arial"/>
                <a:cs typeface="Arial"/>
              </a:defRPr>
            </a:pPr>
            <a:r>
              <a:rPr sz="1950" b="0">
                <a:solidFill>
                  <a:srgbClr val="F4F7FA"/>
                </a:solidFill>
                <a:latin typeface="Arial"/>
                <a:ea typeface="Arial"/>
                <a:cs typeface="Arial"/>
              </a:rPr>
              <a:t>Type errors; writes to tuple elements.</a:t>
            </a:r>
          </a:p>
          <a:p xmlns:a="http://schemas.openxmlformats.org/drawingml/2006/main">
            <a:pPr>
              <a:buNone/>
              <a:defRPr sz="1950" b="0">
                <a:solidFill>
                  <a:srgbClr val="F4F7FA"/>
                </a:solidFill>
                <a:latin typeface="Arial"/>
                <a:ea typeface="Arial"/>
                <a:cs typeface="Arial"/>
              </a:defRPr>
            </a:pPr>
            <a:r>
              <a:rPr sz="1950" b="0">
                <a:solidFill>
                  <a:srgbClr val="F4F7FA"/>
                </a:solidFill>
                <a:latin typeface="Arial"/>
                <a:ea typeface="Arial"/>
                <a:cs typeface="Arial"/>
              </a:rPr>
              <a:t>Examples: true + 10 and "hello" - 10.</a:t>
            </a:r>
          </a:p>
        </p:txBody>
      </p:sp>
    </p:spTree>
    <p:extLst>
      <p:ext uri="{BB962C8B-B14F-4D97-AF65-F5344CB8AC3E}">
        <p14:creationId xmlns:p14="http://schemas.microsoft.com/office/powerpoint/2010/main" val="1249690065"/>
      </p:ext>
    </p:extLst>
  </p:cSld>
</p:sld>
</file>

<file path=ppt/slides/slide5.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Values and conversions</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Three small programs define primitive values and conversion rules.</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01  Literals</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name = "Alice";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age = 20;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height = 1.72;</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student = true;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print(name);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print(age);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print(height);</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print(student);</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6191250"/>
            <a:ext cx="4343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Alice</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20</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1.72</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true</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54483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02  Dynamic typing</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54483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56388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value = 10;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value = "hello";</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value = true;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5448300" y="6191250"/>
            <a:ext cx="4343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hello</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true</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101346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03  Conversions</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101346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103251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a = 10;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b = 2.5;</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result = a + b;</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print(result);</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print("Result: " + result);</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10134600" y="6191250"/>
            <a:ext cx="4343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12.5</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Result: 12.5</a:t>
            </a:r>
          </a:p>
        </p:txBody>
      </p:sp>
    </p:spTree>
    <p:extLst>
      <p:ext uri="{BB962C8B-B14F-4D97-AF65-F5344CB8AC3E}">
        <p14:creationId xmlns:p14="http://schemas.microsoft.com/office/powerpoint/2010/main" val="490478619"/>
      </p:ext>
    </p:extLst>
  </p:cSld>
</p:sld>
</file>

<file path=ppt/slides/slide6.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Conditions and iteration</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Independent programs demonstrate branching and repeated evaluation.</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04  Conditions</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6572250" cy="291465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6191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score = 75;</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if (score &gt;= 60)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print("passed");</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else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print("failed");</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6048375"/>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passed</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790575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05  Factorial loop</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7905750" y="2924175"/>
            <a:ext cx="6572250" cy="291465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8096250" y="3114675"/>
            <a:ext cx="6191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n = 5;</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result = 1;</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while (n &gt; 1)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result = result * n;</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n = n - 1;</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print(result);</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7905750" y="6048375"/>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120</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971550" y="66675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1">
                <a:solidFill>
                  <a:srgbClr val="3F771A"/>
                </a:solidFill>
                <a:latin typeface="Arial"/>
                <a:ea typeface="Arial"/>
                <a:cs typeface="Arial"/>
              </a:defRPr>
            </a:pPr>
            <a:r>
              <a:rPr sz="2250" b="1">
                <a:solidFill>
                  <a:srgbClr val="3F771A"/>
                </a:solidFill>
                <a:latin typeface="Arial"/>
                <a:ea typeface="Arial"/>
                <a:cs typeface="Arial"/>
              </a:rPr>
              <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762000" y="6858000"/>
            <a:ext cx="13716000" cy="8763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4000500" y="7019925"/>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F4F7FA"/>
                </a:solidFill>
                <a:latin typeface="Arial"/>
                <a:ea typeface="Arial"/>
                <a:cs typeface="Arial"/>
              </a:defRPr>
            </a:pPr>
            <a:r>
              <a:rPr sz="2025" b="0">
                <a:solidFill>
                  <a:srgbClr val="F4F7FA"/>
                </a:solidFill>
                <a:latin typeface="Arial"/>
                <a:ea typeface="Arial"/>
                <a:cs typeface="Arial"/>
              </a:rPr>
              <a:t>if selects one branch; while repeats until its condition becomes false.</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971550" y="7010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1">
                <a:solidFill>
                  <a:srgbClr val="B6E653"/>
                </a:solidFill>
                <a:latin typeface="Arial"/>
                <a:ea typeface="Arial"/>
                <a:cs typeface="Arial"/>
              </a:defRPr>
            </a:pPr>
            <a:r>
              <a:rPr sz="2100" b="1">
                <a:solidFill>
                  <a:srgbClr val="B6E653"/>
                </a:solidFill>
                <a:latin typeface="Arial"/>
                <a:ea typeface="Arial"/>
                <a:cs typeface="Arial"/>
              </a:rPr>
              <a:t>Control flow</a:t>
            </a:r>
          </a:p>
        </p:txBody>
      </p:sp>
    </p:spTree>
    <p:extLst>
      <p:ext uri="{BB962C8B-B14F-4D97-AF65-F5344CB8AC3E}">
        <p14:creationId xmlns:p14="http://schemas.microsoft.com/office/powerpoint/2010/main" val="490478619"/>
      </p:ext>
    </p:extLst>
  </p:cSld>
</p:sld>
</file>

<file path=ppt/slides/slide7.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Arrays and tuples</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Zero-based indexing works for both collections; only arrays allow element updates.</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06  Mutable array</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numbers = [10, 20, 30];</a:t>
            </a:r>
          </a:p>
          <a:p xmlns:a="http://schemas.openxmlformats.org/drawingml/2006/main">
            <a:pPr>
              <a:buNone/>
              <a:defRPr sz="1875" b="0">
                <a:solidFill>
                  <a:srgbClr val="213126"/>
                </a:solidFill>
                <a:latin typeface="DejaVu Sans Mono"/>
                <a:ea typeface="DejaVu Sans Mono"/>
                <a:cs typeface="DejaVu Sans Mono"/>
              </a:defRPr>
            </a:pPr>
            <a:r>
              <a:rPr sz="1875" b="0">
                <a:solidFill>
                  <a:srgbClr val="213126"/>
                </a:solidFill>
                <a:latin typeface="DejaVu Sans Mono"/>
                <a:ea typeface="DejaVu Sans Mono"/>
                <a:cs typeface="DejaVu Sans Mono"/>
              </a:rPr>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numbers[1] = 100;</a:t>
            </a:r>
          </a:p>
          <a:p xmlns:a="http://schemas.openxmlformats.org/drawingml/2006/main">
            <a:r>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print(numbers[0]);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print(numbers[1]);</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print(numbers[2]);</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6191250"/>
            <a:ext cx="4343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100</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30</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54483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07  Mixed array</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54483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56388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values =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    10, "hello", true, 3.14</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a:t>
            </a:r>
          </a:p>
          <a:p xmlns:a="http://schemas.openxmlformats.org/drawingml/2006/main">
            <a:pPr>
              <a:buNone/>
              <a:defRPr sz="2025" b="0">
                <a:solidFill>
                  <a:srgbClr val="213126"/>
                </a:solidFill>
                <a:latin typeface="DejaVu Sans Mono"/>
                <a:ea typeface="DejaVu Sans Mono"/>
                <a:cs typeface="DejaVu Sans Mono"/>
              </a:defRPr>
            </a:pPr>
            <a:r>
              <a:rPr sz="2025" b="0">
                <a:solidFill>
                  <a:srgbClr val="213126"/>
                </a:solidFill>
                <a:latin typeface="DejaVu Sans Mono"/>
                <a:ea typeface="DejaVu Sans Mono"/>
                <a:cs typeface="DejaVu Sans Mono"/>
              </a:rPr>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print(values[0]);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print(values[1]);</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print(values[2]);</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print(values[3]);</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5448300" y="6191250"/>
            <a:ext cx="4343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hello</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true</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3.14</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10134600" y="2333625"/>
            <a:ext cx="4343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08  Tuple</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10134600" y="2924175"/>
            <a:ext cx="4343400" cy="30480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10325100" y="3114675"/>
            <a:ext cx="39624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var user =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    "Alex", 21, true</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a:t>
            </a:r>
          </a:p>
          <a:p xmlns:a="http://schemas.openxmlformats.org/drawingml/2006/main">
            <a:pPr>
              <a:buNone/>
              <a:defRPr sz="2025" b="0">
                <a:solidFill>
                  <a:srgbClr val="213126"/>
                </a:solidFill>
                <a:latin typeface="DejaVu Sans Mono"/>
                <a:ea typeface="DejaVu Sans Mono"/>
                <a:cs typeface="DejaVu Sans Mono"/>
              </a:defRPr>
            </a:pPr>
            <a:r>
              <a:rPr sz="2025" b="0">
                <a:solidFill>
                  <a:srgbClr val="213126"/>
                </a:solidFill>
                <a:latin typeface="DejaVu Sans Mono"/>
                <a:ea typeface="DejaVu Sans Mono"/>
                <a:cs typeface="DejaVu Sans Mono"/>
              </a:rPr>
              <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print(user[0]);</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print(user[1]);</a:t>
            </a:r>
          </a:p>
          <a:p xmlns:a="http://schemas.openxmlformats.org/drawingml/2006/main">
            <a:pPr>
              <a:buNone/>
              <a:defRPr sz="1875" b="0">
                <a:solidFill>
                  <a:srgbClr val="F4F7FA"/>
                </a:solidFill>
                <a:latin typeface="DejaVu Sans Mono"/>
                <a:ea typeface="DejaVu Sans Mono"/>
                <a:cs typeface="DejaVu Sans Mono"/>
              </a:defRPr>
            </a:pPr>
            <a:r>
              <a:rPr sz="1875" b="0">
                <a:solidFill>
                  <a:srgbClr val="F4F7FA"/>
                </a:solidFill>
                <a:latin typeface="DejaVu Sans Mono"/>
                <a:ea typeface="DejaVu Sans Mono"/>
                <a:cs typeface="DejaVu Sans Mono"/>
              </a:rPr>
              <a:t>print(user[2]);</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10134600" y="6191250"/>
            <a:ext cx="43434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Expected output</a:t>
            </a:r>
          </a:p>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Alex</a:t>
            </a:r>
          </a:p>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21</a:t>
            </a:r>
          </a:p>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true</a:t>
            </a:r>
          </a:p>
          <a:p xmlns:a="http://schemas.openxmlformats.org/drawingml/2006/main">
            <a:pPr>
              <a:buNone/>
              <a:defRPr sz="2025" b="0">
                <a:solidFill>
                  <a:srgbClr val="586850"/>
                </a:solidFill>
                <a:latin typeface="Arial"/>
                <a:ea typeface="Arial"/>
                <a:cs typeface="Arial"/>
              </a:defRPr>
            </a:pPr>
            <a:r>
              <a:rPr sz="2025" b="0">
                <a:solidFill>
                  <a:srgbClr val="586850"/>
                </a:solidFill>
                <a:latin typeface="Arial"/>
                <a:ea typeface="Arial"/>
                <a:cs typeface="Arial"/>
              </a:rPr>
              <a:t/>
            </a:r>
          </a:p>
          <a:p xmlns:a="http://schemas.openxmlformats.org/drawingml/2006/main">
            <a:pPr>
              <a:buNone/>
              <a:defRPr sz="1875" b="0">
                <a:solidFill>
                  <a:srgbClr val="CDD7E3"/>
                </a:solidFill>
                <a:latin typeface="Arial"/>
                <a:ea typeface="Arial"/>
                <a:cs typeface="Arial"/>
              </a:defRPr>
            </a:pPr>
            <a:r>
              <a:rPr sz="1875" b="0">
                <a:solidFill>
                  <a:srgbClr val="CDD7E3"/>
                </a:solidFill>
                <a:latin typeface="Arial"/>
                <a:ea typeface="Arial"/>
                <a:cs typeface="Arial"/>
              </a:rPr>
              <a:t>Element updates are errors.</a:t>
            </a:r>
          </a:p>
        </p:txBody>
      </p:sp>
    </p:spTree>
    <p:extLst>
      <p:ext uri="{BB962C8B-B14F-4D97-AF65-F5344CB8AC3E}">
        <p14:creationId xmlns:p14="http://schemas.microsoft.com/office/powerpoint/2010/main" val="490478619"/>
      </p:ext>
    </p:extLst>
  </p:cSld>
</p:sld>
</file>

<file path=ppt/slides/slide8.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Named functions and recursion</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Both programs are complete: each defines and calls its own function.</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09  Named function</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6572250" cy="291465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6191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fun max(a, b)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if (a &gt; b)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return a;</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return b;</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print(max(10, 20));</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6048375"/>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20</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790575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10  Recursion</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7905750" y="2924175"/>
            <a:ext cx="6572250" cy="291465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8096250" y="3114675"/>
            <a:ext cx="61912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fun factorial(n)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if (n &lt;= 1)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return 1;</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return n * factorial(n - 1);</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print(factorial(5));</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7905750" y="6048375"/>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120</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971550" y="666750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1">
                <a:solidFill>
                  <a:srgbClr val="3F771A"/>
                </a:solidFill>
                <a:latin typeface="Arial"/>
                <a:ea typeface="Arial"/>
                <a:cs typeface="Arial"/>
              </a:defRPr>
            </a:pPr>
            <a:r>
              <a:rPr sz="2250" b="1">
                <a:solidFill>
                  <a:srgbClr val="3F771A"/>
                </a:solidFill>
                <a:latin typeface="Arial"/>
                <a:ea typeface="Arial"/>
                <a:cs typeface="Arial"/>
              </a:rPr>
              <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762000" y="6858000"/>
            <a:ext cx="13716000" cy="876300"/>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4000500" y="7019925"/>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F4F7FA"/>
                </a:solidFill>
                <a:latin typeface="Arial"/>
                <a:ea typeface="Arial"/>
                <a:cs typeface="Arial"/>
              </a:defRPr>
            </a:pPr>
            <a:r>
              <a:rPr sz="2025" b="0">
                <a:solidFill>
                  <a:srgbClr val="F4F7FA"/>
                </a:solidFill>
                <a:latin typeface="Arial"/>
                <a:ea typeface="Arial"/>
                <a:cs typeface="Arial"/>
              </a:rPr>
              <a:t>Parameters receive values; return supplies the result to the caller.</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971550" y="70104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1">
                <a:solidFill>
                  <a:srgbClr val="B6E653"/>
                </a:solidFill>
                <a:latin typeface="Arial"/>
                <a:ea typeface="Arial"/>
                <a:cs typeface="Arial"/>
              </a:defRPr>
            </a:pPr>
            <a:r>
              <a:rPr sz="2100" b="1">
                <a:solidFill>
                  <a:srgbClr val="B6E653"/>
                </a:solidFill>
                <a:latin typeface="Arial"/>
                <a:ea typeface="Arial"/>
                <a:cs typeface="Arial"/>
              </a:rPr>
              <a:t>Function calls</a:t>
            </a:r>
          </a:p>
        </p:txBody>
      </p:sp>
    </p:spTree>
    <p:extLst>
      <p:ext uri="{BB962C8B-B14F-4D97-AF65-F5344CB8AC3E}">
        <p14:creationId xmlns:p14="http://schemas.microsoft.com/office/powerpoint/2010/main" val="490478619"/>
      </p:ext>
    </p:extLst>
  </p:cSld>
</p:sld>
</file>

<file path=ppt/slides/slide9.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Lambdas and lexical closures</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Closure = function + captured lexical environment</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11  Lambda</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6572250" cy="1666875"/>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619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square = lambda(x) =&gt; x * x;</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print(square(5));</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print(square(10));</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4752975"/>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25</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100</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790575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12  Closure</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7905750" y="2924175"/>
            <a:ext cx="6572250" cy="3152775"/>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8096250" y="3114675"/>
            <a:ext cx="6191250" cy="2847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fun makeAdder(x) {</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    return lambda(y) =&gt; x + y;</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var add10 = makeAdder(10);</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var add100 = makeAdder(100);</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print(add10(5));</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print(add100(5));</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7905750" y="6267450"/>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15</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105</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762000" y="5762625"/>
            <a:ext cx="657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75" b="1">
                <a:solidFill>
                  <a:srgbClr val="B6E653"/>
                </a:solidFill>
                <a:latin typeface="Arial"/>
                <a:ea typeface="Arial"/>
                <a:cs typeface="Arial"/>
              </a:defRPr>
            </a:pPr>
            <a:r>
              <a:rPr sz="2175" b="1">
                <a:solidFill>
                  <a:srgbClr val="B6E653"/>
                </a:solidFill>
                <a:latin typeface="Arial"/>
                <a:ea typeface="Arial"/>
                <a:cs typeface="Arial"/>
              </a:rPr>
              <a:t>add10 captures x = 10</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762000" y="6257925"/>
            <a:ext cx="6572250" cy="1114425"/>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952500" y="6448425"/>
            <a:ext cx="6191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lambda(y) =&gt; x + y</a:t>
            </a:r>
          </a:p>
          <a:p xmlns:a="http://schemas.openxmlformats.org/drawingml/2006/main">
            <a:pPr>
              <a:buNone/>
              <a:defRPr sz="2025" b="0">
                <a:solidFill>
                  <a:srgbClr val="F4F7FA"/>
                </a:solidFill>
                <a:latin typeface="DejaVu Sans Mono"/>
                <a:ea typeface="DejaVu Sans Mono"/>
                <a:cs typeface="DejaVu Sans Mono"/>
              </a:defRPr>
            </a:pPr>
            <a:r>
              <a:rPr sz="2025" b="0">
                <a:solidFill>
                  <a:srgbClr val="F4F7FA"/>
                </a:solidFill>
                <a:latin typeface="DejaVu Sans Mono"/>
                <a:ea typeface="DejaVu Sans Mono"/>
                <a:cs typeface="DejaVu Sans Mono"/>
              </a:rPr>
              <a:t>+ lexical environment: x = 10</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762000" y="7553325"/>
            <a:ext cx="1371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1">
                <a:solidFill>
                  <a:srgbClr val="B6E653"/>
                </a:solidFill>
                <a:latin typeface="Arial"/>
                <a:ea typeface="Arial"/>
                <a:cs typeface="Arial"/>
              </a:defRPr>
            </a:pPr>
            <a:r>
              <a:rPr sz="2250" b="1">
                <a:solidFill>
                  <a:srgbClr val="B6E653"/>
                </a:solidFill>
                <a:latin typeface="Arial"/>
                <a:ea typeface="Arial"/>
                <a:cs typeface="Arial"/>
              </a:rPr>
              <a:t>The captured x remains accessible after makeAdder returns.</a:t>
            </a:r>
          </a:p>
        </p:txBody>
      </p:sp>
    </p:spTree>
    <p:extLst>
      <p:ext uri="{BB962C8B-B14F-4D97-AF65-F5344CB8AC3E}">
        <p14:creationId xmlns:p14="http://schemas.microsoft.com/office/powerpoint/2010/main" val="490478619"/>
      </p:ext>
    </p:extLst>
  </p:cSld>
</p:sld>
</file>

<file path=ppt/slides/slide10.xml><?xml version="1.0" encoding="utf-8"?>
<p:sld xmlns:p="http://schemas.openxmlformats.org/presentationml/2006/main">
  <p:cSld>
    <p:bg>
      <p:bgPr>
        <a:solidFill xmlns:a="http://schemas.openxmlformats.org/drawingml/2006/main">
          <a:srgbClr val="0B172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2CDDEF5-BE8F-45D9-B45C-38452BC12B9C}"/>
              </a:ext>
            </a:extLst>
          </p:cNvPr>
          <p:cNvSpPr>
            <a:spLocks xmlns:a="http://schemas.openxmlformats.org/drawingml/2006/main" noGrp="1"/>
          </p:cNvSpPr>
          <p:nvPr/>
        </p:nvSpPr>
        <p:spPr>
          <a:xfrm xmlns:a="http://schemas.openxmlformats.org/drawingml/2006/main">
            <a:off x="762000" y="381000"/>
            <a:ext cx="1238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425" b="1">
                <a:solidFill>
                  <a:srgbClr val="B6E653"/>
                </a:solidFill>
                <a:latin typeface="Arial"/>
                <a:ea typeface="Arial"/>
                <a:cs typeface="Arial"/>
              </a:defRPr>
            </a:pPr>
            <a:r>
              <a:rPr sz="1425" b="1">
                <a:solidFill>
                  <a:srgbClr val="B6E653"/>
                </a:solidFill>
                <a:latin typeface="Arial"/>
                <a:ea typeface="Arial"/>
                <a:cs typeface="Arial"/>
              </a:rPr>
              <a:t>PROJECT D  /  LANGUAGE DESIGN</a:t>
            </a:r>
          </a:p>
        </p:txBody>
      </p:sp>
      <p:sp>
        <p:nvSpPr>
          <p:cNvPr id="2" name="">
            <a:extLst xmlns:a="http://schemas.openxmlformats.org/drawingml/2006/main">
              <a:ext uri="{FF2B5EF4-FFF2-40B4-BE49-F238E27FC236}">
                <a16:creationId xmlns:a16="http://schemas.microsoft.com/office/drawing/2014/main" id="{09294870-1BBA-45BC-AC58-5AFCB1F9BB37}"/>
              </a:ext>
            </a:extLst>
          </p:cNvPr>
          <p:cNvSpPr>
            <a:spLocks xmlns:a="http://schemas.openxmlformats.org/drawingml/2006/main" noGrp="1"/>
          </p:cNvSpPr>
          <p:nvPr/>
        </p:nvSpPr>
        <p:spPr>
          <a:xfrm xmlns:a="http://schemas.openxmlformats.org/drawingml/2006/main">
            <a:off x="762000" y="8667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3675" b="1">
                <a:solidFill>
                  <a:srgbClr val="F4F7FA"/>
                </a:solidFill>
                <a:latin typeface="Arial"/>
                <a:ea typeface="Arial"/>
                <a:cs typeface="Arial"/>
              </a:defRPr>
            </a:pPr>
            <a:r>
              <a:rPr sz="3675" b="1">
                <a:solidFill>
                  <a:srgbClr val="F4F7FA"/>
                </a:solidFill>
                <a:latin typeface="Arial"/>
                <a:ea typeface="Arial"/>
                <a:cs typeface="Arial"/>
              </a:rPr>
              <a:t>Input, output and first-class functions</a:t>
            </a:r>
          </a:p>
        </p:txBody>
      </p:sp>
      <p:sp>
        <p:nvSpPr>
          <p:cNvPr id="3" name="">
            <a:extLst xmlns:a="http://schemas.openxmlformats.org/drawingml/2006/main">
              <a:ext uri="{FF2B5EF4-FFF2-40B4-BE49-F238E27FC236}">
                <a16:creationId xmlns:a16="http://schemas.microsoft.com/office/drawing/2014/main" id="{4A48553A-770E-4F5C-B850-26969F4DACCA}"/>
              </a:ext>
            </a:extLst>
          </p:cNvPr>
          <p:cNvSpPr>
            <a:spLocks xmlns:a="http://schemas.openxmlformats.org/drawingml/2006/main" noGrp="1"/>
          </p:cNvSpPr>
          <p:nvPr/>
        </p:nvSpPr>
        <p:spPr>
          <a:xfrm xmlns:a="http://schemas.openxmlformats.org/drawingml/2006/main">
            <a:off x="762000" y="1571625"/>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These examples complete the 14-program specification.</a:t>
            </a:r>
          </a:p>
        </p:txBody>
      </p:sp>
      <p:sp>
        <p:nvSpPr>
          <p:cNvPr id="4" name="">
            <a:extLst xmlns:a="http://schemas.openxmlformats.org/drawingml/2006/main">
              <a:ext uri="{FF2B5EF4-FFF2-40B4-BE49-F238E27FC236}">
                <a16:creationId xmlns:a16="http://schemas.microsoft.com/office/drawing/2014/main" id="{FE25A866-A5F7-431F-995E-1BFB9F63DCFC}"/>
              </a:ext>
            </a:extLst>
          </p:cNvPr>
          <p:cNvSpPr>
            <a:spLocks xmlns:a="http://schemas.openxmlformats.org/drawingml/2006/main" noGrp="1"/>
          </p:cNvSpPr>
          <p:nvPr/>
        </p:nvSpPr>
        <p:spPr>
          <a:xfrm xmlns:a="http://schemas.openxmlformats.org/drawingml/2006/main">
            <a:off x="762000" y="8029575"/>
            <a:ext cx="13716000" cy="19050"/>
          </a:xfrm>
          <a:prstGeom xmlns:a="http://schemas.openxmlformats.org/drawingml/2006/main" prst="rect">
            <a:avLst/>
          </a:prstGeom>
          <a:solidFill xmlns:a="http://schemas.openxmlformats.org/drawingml/2006/main">
            <a:srgbClr val="5069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1F73E4-2365-4FAB-A80A-4528F0D046A9}"/>
              </a:ext>
            </a:extLst>
          </p:cNvPr>
          <p:cNvSpPr>
            <a:spLocks xmlns:a="http://schemas.openxmlformats.org/drawingml/2006/main" noGrp="1"/>
          </p:cNvSpPr>
          <p:nvPr/>
        </p:nvSpPr>
        <p:spPr>
          <a:xfrm xmlns:a="http://schemas.openxmlformats.org/drawingml/2006/main">
            <a:off x="762000" y="8191500"/>
            <a:ext cx="11430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350" b="0">
                <a:solidFill>
                  <a:srgbClr val="CDD7E3"/>
                </a:solidFill>
                <a:latin typeface="Arial"/>
                <a:ea typeface="Arial"/>
                <a:cs typeface="Arial"/>
              </a:defRPr>
            </a:pPr>
            <a:r>
              <a:rPr sz="1350" b="0">
                <a:solidFill>
                  <a:srgbClr val="CDD7E3"/>
                </a:solidFill>
                <a:latin typeface="Arial"/>
                <a:ea typeface="Arial"/>
                <a:cs typeface="Arial"/>
              </a:rPr>
              <a:t>Computer Compilers • Innopolis University</a:t>
            </a:r>
          </a:p>
        </p:txBody>
      </p:sp>
      <p:sp>
        <p:nvSpPr>
          <p:cNvPr id="6" name="">
            <a:extLst xmlns:a="http://schemas.openxmlformats.org/drawingml/2006/main">
              <a:ext uri="{FF2B5EF4-FFF2-40B4-BE49-F238E27FC236}">
                <a16:creationId xmlns:a16="http://schemas.microsoft.com/office/drawing/2014/main" id="{F91C3C36-A5FF-4907-A8C3-B3B62B36E8F4}"/>
              </a:ext>
            </a:extLst>
          </p:cNvPr>
          <p:cNvSpPr>
            <a:spLocks xmlns:a="http://schemas.openxmlformats.org/drawingml/2006/main" noGrp="1"/>
          </p:cNvSpPr>
          <p:nvPr/>
        </p:nvSpPr>
        <p:spPr>
          <a:xfrm xmlns:a="http://schemas.openxmlformats.org/drawingml/2006/main">
            <a:off x="13906500" y="8162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650" b="1">
                <a:solidFill>
                  <a:srgbClr val="B6E653"/>
                </a:solidFill>
                <a:latin typeface="Arial"/>
                <a:ea typeface="Arial"/>
                <a:cs typeface="Arial"/>
              </a:defRPr>
            </a:pPr>
            <a:r>
              <a:rPr sz="1650" b="1">
                <a:solidFill>
                  <a:srgbClr val="B6E653"/>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A1964263-B06C-415C-9482-6FF76F48BAF8}"/>
              </a:ext>
            </a:extLst>
          </p:cNvPr>
          <p:cNvSpPr>
            <a:spLocks xmlns:a="http://schemas.openxmlformats.org/drawingml/2006/main" noGrp="1"/>
          </p:cNvSpPr>
          <p:nvPr/>
        </p:nvSpPr>
        <p:spPr>
          <a:xfrm xmlns:a="http://schemas.openxmlformats.org/drawingml/2006/main">
            <a:off x="76200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13  Input and output</a:t>
            </a:r>
          </a:p>
        </p:txBody>
      </p:sp>
      <p:sp>
        <p:nvSpPr>
          <p:cNvPr id="8" name="">
            <a:extLst xmlns:a="http://schemas.openxmlformats.org/drawingml/2006/main">
              <a:ext uri="{FF2B5EF4-FFF2-40B4-BE49-F238E27FC236}">
                <a16:creationId xmlns:a16="http://schemas.microsoft.com/office/drawing/2014/main" id="{FD44C54D-E202-46D9-A177-60ECFEEC327A}"/>
              </a:ext>
            </a:extLst>
          </p:cNvPr>
          <p:cNvSpPr>
            <a:spLocks xmlns:a="http://schemas.openxmlformats.org/drawingml/2006/main" noGrp="1"/>
          </p:cNvSpPr>
          <p:nvPr/>
        </p:nvSpPr>
        <p:spPr>
          <a:xfrm xmlns:a="http://schemas.openxmlformats.org/drawingml/2006/main">
            <a:off x="762000" y="2924175"/>
            <a:ext cx="6572250" cy="2333625"/>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C26318-73FE-42E7-9475-499BD0E37ABF}"/>
              </a:ext>
            </a:extLst>
          </p:cNvPr>
          <p:cNvSpPr>
            <a:spLocks xmlns:a="http://schemas.openxmlformats.org/drawingml/2006/main" noGrp="1"/>
          </p:cNvSpPr>
          <p:nvPr/>
        </p:nvSpPr>
        <p:spPr>
          <a:xfrm xmlns:a="http://schemas.openxmlformats.org/drawingml/2006/main">
            <a:off x="952500" y="3114675"/>
            <a:ext cx="61912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print("Enter your name:");</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name = input();</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print("Hello, " + name);</a:t>
            </a:r>
          </a:p>
        </p:txBody>
      </p:sp>
      <p:sp>
        <p:nvSpPr>
          <p:cNvPr id="10" name="">
            <a:extLst xmlns:a="http://schemas.openxmlformats.org/drawingml/2006/main">
              <a:ext uri="{FF2B5EF4-FFF2-40B4-BE49-F238E27FC236}">
                <a16:creationId xmlns:a16="http://schemas.microsoft.com/office/drawing/2014/main" id="{EC946AE3-9631-4620-B60B-B07BB3FEEA32}"/>
              </a:ext>
            </a:extLst>
          </p:cNvPr>
          <p:cNvSpPr>
            <a:spLocks xmlns:a="http://schemas.openxmlformats.org/drawingml/2006/main" noGrp="1"/>
          </p:cNvSpPr>
          <p:nvPr/>
        </p:nvSpPr>
        <p:spPr>
          <a:xfrm xmlns:a="http://schemas.openxmlformats.org/drawingml/2006/main">
            <a:off x="762000" y="5495925"/>
            <a:ext cx="657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1950" b="0">
                <a:solidFill>
                  <a:srgbClr val="CDD7E3"/>
                </a:solidFill>
                <a:latin typeface="Arial"/>
                <a:ea typeface="Arial"/>
                <a:cs typeface="Arial"/>
              </a:defRPr>
            </a:pPr>
            <a:r>
              <a:rPr sz="1950" b="0">
                <a:solidFill>
                  <a:srgbClr val="CDD7E3"/>
                </a:solidFill>
                <a:latin typeface="Arial"/>
                <a:ea typeface="Arial"/>
                <a:cs typeface="Arial"/>
              </a:rPr>
              <a:t>Input: Alice</a:t>
            </a:r>
          </a:p>
          <a:p xmlns:a="http://schemas.openxmlformats.org/drawingml/2006/main">
            <a:pPr>
              <a:buNone/>
              <a:defRPr sz="2025" b="0">
                <a:solidFill>
                  <a:srgbClr val="586850"/>
                </a:solidFill>
                <a:latin typeface="Arial"/>
                <a:ea typeface="Arial"/>
                <a:cs typeface="Arial"/>
              </a:defRPr>
            </a:pPr>
            <a:r>
              <a:rPr sz="2025" b="0">
                <a:solidFill>
                  <a:srgbClr val="586850"/>
                </a:solidFill>
                <a:latin typeface="Arial"/>
                <a:ea typeface="Arial"/>
                <a:cs typeface="Arial"/>
              </a:rPr>
              <a:t/>
            </a:r>
          </a:p>
          <a:p xmlns:a="http://schemas.openxmlformats.org/drawingml/2006/main">
            <a:pPr>
              <a:buNone/>
              <a:defRPr sz="1950" b="0">
                <a:solidFill>
                  <a:srgbClr val="CDD7E3"/>
                </a:solidFill>
                <a:latin typeface="Arial"/>
                <a:ea typeface="Arial"/>
                <a:cs typeface="Arial"/>
              </a:defRPr>
            </a:pPr>
            <a:r>
              <a:rPr sz="1950" b="0">
                <a:solidFill>
                  <a:srgbClr val="CDD7E3"/>
                </a:solidFill>
                <a:latin typeface="Arial"/>
                <a:ea typeface="Arial"/>
                <a:cs typeface="Arial"/>
              </a:rPr>
              <a:t>Expected output</a:t>
            </a:r>
          </a:p>
          <a:p xmlns:a="http://schemas.openxmlformats.org/drawingml/2006/main">
            <a:pPr>
              <a:buNone/>
              <a:defRPr sz="1950" b="0">
                <a:solidFill>
                  <a:srgbClr val="CDD7E3"/>
                </a:solidFill>
                <a:latin typeface="Arial"/>
                <a:ea typeface="Arial"/>
                <a:cs typeface="Arial"/>
              </a:defRPr>
            </a:pPr>
            <a:r>
              <a:rPr sz="1950" b="0">
                <a:solidFill>
                  <a:srgbClr val="CDD7E3"/>
                </a:solidFill>
                <a:latin typeface="Arial"/>
                <a:ea typeface="Arial"/>
                <a:cs typeface="Arial"/>
              </a:rPr>
              <a:t>Enter your name:</a:t>
            </a:r>
          </a:p>
          <a:p xmlns:a="http://schemas.openxmlformats.org/drawingml/2006/main">
            <a:pPr>
              <a:buNone/>
              <a:defRPr sz="1950" b="0">
                <a:solidFill>
                  <a:srgbClr val="CDD7E3"/>
                </a:solidFill>
                <a:latin typeface="Arial"/>
                <a:ea typeface="Arial"/>
                <a:cs typeface="Arial"/>
              </a:defRPr>
            </a:pPr>
            <a:r>
              <a:rPr sz="1950" b="0">
                <a:solidFill>
                  <a:srgbClr val="CDD7E3"/>
                </a:solidFill>
                <a:latin typeface="Arial"/>
                <a:ea typeface="Arial"/>
                <a:cs typeface="Arial"/>
              </a:rPr>
              <a:t>Hello, Alice</a:t>
            </a:r>
          </a:p>
        </p:txBody>
      </p:sp>
      <p:sp>
        <p:nvSpPr>
          <p:cNvPr id="11" name="">
            <a:extLst xmlns:a="http://schemas.openxmlformats.org/drawingml/2006/main">
              <a:ext uri="{FF2B5EF4-FFF2-40B4-BE49-F238E27FC236}">
                <a16:creationId xmlns:a16="http://schemas.microsoft.com/office/drawing/2014/main" id="{811445CD-FAC5-487F-9513-787F23188AB5}"/>
              </a:ext>
            </a:extLst>
          </p:cNvPr>
          <p:cNvSpPr>
            <a:spLocks xmlns:a="http://schemas.openxmlformats.org/drawingml/2006/main" noGrp="1"/>
          </p:cNvSpPr>
          <p:nvPr/>
        </p:nvSpPr>
        <p:spPr>
          <a:xfrm xmlns:a="http://schemas.openxmlformats.org/drawingml/2006/main">
            <a:off x="7905750" y="23336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400" b="1">
                <a:solidFill>
                  <a:srgbClr val="B6E653"/>
                </a:solidFill>
                <a:latin typeface="Arial"/>
                <a:ea typeface="Arial"/>
                <a:cs typeface="Arial"/>
              </a:defRPr>
            </a:pPr>
            <a:r>
              <a:rPr sz="2400" b="1">
                <a:solidFill>
                  <a:srgbClr val="B6E653"/>
                </a:solidFill>
                <a:latin typeface="Arial"/>
                <a:ea typeface="Arial"/>
                <a:cs typeface="Arial"/>
              </a:rPr>
              <a:t>14  Function variable</a:t>
            </a:r>
          </a:p>
        </p:txBody>
      </p:sp>
      <p:sp>
        <p:nvSpPr>
          <p:cNvPr id="12" name="">
            <a:extLst xmlns:a="http://schemas.openxmlformats.org/drawingml/2006/main">
              <a:ext uri="{FF2B5EF4-FFF2-40B4-BE49-F238E27FC236}">
                <a16:creationId xmlns:a16="http://schemas.microsoft.com/office/drawing/2014/main" id="{19DAD1B6-2AA8-4812-B608-A096D118A76F}"/>
              </a:ext>
            </a:extLst>
          </p:cNvPr>
          <p:cNvSpPr>
            <a:spLocks xmlns:a="http://schemas.openxmlformats.org/drawingml/2006/main" noGrp="1"/>
          </p:cNvSpPr>
          <p:nvPr/>
        </p:nvSpPr>
        <p:spPr>
          <a:xfrm xmlns:a="http://schemas.openxmlformats.org/drawingml/2006/main">
            <a:off x="7905750" y="2924175"/>
            <a:ext cx="6572250" cy="2333625"/>
          </a:xfrm>
          <a:prstGeom xmlns:a="http://schemas.openxmlformats.org/drawingml/2006/main" prst="rect">
            <a:avLst/>
          </a:prstGeom>
          <a:solidFill xmlns:a="http://schemas.openxmlformats.org/drawingml/2006/main">
            <a:srgbClr val="182D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5589F2-805E-4128-9D22-4D1B55D7A06E}"/>
              </a:ext>
            </a:extLst>
          </p:cNvPr>
          <p:cNvSpPr>
            <a:spLocks xmlns:a="http://schemas.openxmlformats.org/drawingml/2006/main" noGrp="1"/>
          </p:cNvSpPr>
          <p:nvPr/>
        </p:nvSpPr>
        <p:spPr>
          <a:xfrm xmlns:a="http://schemas.openxmlformats.org/drawingml/2006/main">
            <a:off x="8096250" y="3114675"/>
            <a:ext cx="61912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fun add(a, b) {</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    return a + b;</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var operation = add;</a:t>
            </a:r>
          </a:p>
          <a:p xmlns:a="http://schemas.openxmlformats.org/drawingml/2006/main">
            <a:pPr>
              <a:buNone/>
              <a:defRPr sz="2100" b="0">
                <a:solidFill>
                  <a:srgbClr val="F4F7FA"/>
                </a:solidFill>
                <a:latin typeface="DejaVu Sans Mono"/>
                <a:ea typeface="DejaVu Sans Mono"/>
                <a:cs typeface="DejaVu Sans Mono"/>
              </a:defRPr>
            </a:pPr>
            <a:r>
              <a:rPr sz="2100" b="0">
                <a:solidFill>
                  <a:srgbClr val="F4F7FA"/>
                </a:solidFill>
                <a:latin typeface="DejaVu Sans Mono"/>
                <a:ea typeface="DejaVu Sans Mono"/>
                <a:cs typeface="DejaVu Sans Mono"/>
              </a:rPr>
              <a:t>print(operation(4, 6));</a:t>
            </a:r>
          </a:p>
        </p:txBody>
      </p:sp>
      <p:sp>
        <p:nvSpPr>
          <p:cNvPr id="14" name="">
            <a:extLst xmlns:a="http://schemas.openxmlformats.org/drawingml/2006/main">
              <a:ext uri="{FF2B5EF4-FFF2-40B4-BE49-F238E27FC236}">
                <a16:creationId xmlns:a16="http://schemas.microsoft.com/office/drawing/2014/main" id="{421AE58F-A92A-4CB6-BDC2-7D9CF05BF354}"/>
              </a:ext>
            </a:extLst>
          </p:cNvPr>
          <p:cNvSpPr>
            <a:spLocks xmlns:a="http://schemas.openxmlformats.org/drawingml/2006/main" noGrp="1"/>
          </p:cNvSpPr>
          <p:nvPr/>
        </p:nvSpPr>
        <p:spPr>
          <a:xfrm xmlns:a="http://schemas.openxmlformats.org/drawingml/2006/main">
            <a:off x="7905750" y="5562600"/>
            <a:ext cx="6572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Expected output</a:t>
            </a:r>
          </a:p>
          <a:p xmlns:a="http://schemas.openxmlformats.org/drawingml/2006/main">
            <a:pPr>
              <a:buNone/>
              <a:defRPr sz="2025" b="0">
                <a:solidFill>
                  <a:srgbClr val="CDD7E3"/>
                </a:solidFill>
                <a:latin typeface="Arial"/>
                <a:ea typeface="Arial"/>
                <a:cs typeface="Arial"/>
              </a:defRPr>
            </a:pPr>
            <a:r>
              <a:rPr sz="2025" b="0">
                <a:solidFill>
                  <a:srgbClr val="CDD7E3"/>
                </a:solidFill>
                <a:latin typeface="Arial"/>
                <a:ea typeface="Arial"/>
                <a:cs typeface="Arial"/>
              </a:rPr>
              <a:t>10</a:t>
            </a:r>
          </a:p>
        </p:txBody>
      </p:sp>
      <p:sp>
        <p:nvSpPr>
          <p:cNvPr id="15" name="">
            <a:extLst xmlns:a="http://schemas.openxmlformats.org/drawingml/2006/main">
              <a:ext uri="{FF2B5EF4-FFF2-40B4-BE49-F238E27FC236}">
                <a16:creationId xmlns:a16="http://schemas.microsoft.com/office/drawing/2014/main" id="{970A14B2-F09B-4AA2-8440-67D243879ACD}"/>
              </a:ext>
            </a:extLst>
          </p:cNvPr>
          <p:cNvSpPr>
            <a:spLocks xmlns:a="http://schemas.openxmlformats.org/drawingml/2006/main" noGrp="1"/>
          </p:cNvSpPr>
          <p:nvPr/>
        </p:nvSpPr>
        <p:spPr>
          <a:xfrm xmlns:a="http://schemas.openxmlformats.org/drawingml/2006/main">
            <a:off x="762000" y="70485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1">
                <a:solidFill>
                  <a:srgbClr val="3F771A"/>
                </a:solidFill>
                <a:latin typeface="Arial"/>
                <a:ea typeface="Arial"/>
                <a:cs typeface="Arial"/>
              </a:defRPr>
            </a:pPr>
            <a:r>
              <a:rPr sz="2250" b="1">
                <a:solidFill>
                  <a:srgbClr val="3F771A"/>
                </a:solidFill>
                <a:latin typeface="Arial"/>
                <a:ea typeface="Arial"/>
                <a:cs typeface="Arial"/>
              </a:rPr>
              <a:t/>
            </a:r>
          </a:p>
        </p:txBody>
      </p:sp>
      <p:sp>
        <p:nvSpPr>
          <p:cNvPr id="16" name="">
            <a:extLst xmlns:a="http://schemas.openxmlformats.org/drawingml/2006/main">
              <a:ext uri="{FF2B5EF4-FFF2-40B4-BE49-F238E27FC236}">
                <a16:creationId xmlns:a16="http://schemas.microsoft.com/office/drawing/2014/main" id="{A1198E9E-27AF-4FA1-80CE-1C2BE8232DB3}"/>
              </a:ext>
            </a:extLst>
          </p:cNvPr>
          <p:cNvSpPr>
            <a:spLocks xmlns:a="http://schemas.openxmlformats.org/drawingml/2006/main" noGrp="1"/>
          </p:cNvSpPr>
          <p:nvPr/>
        </p:nvSpPr>
        <p:spPr>
          <a:xfrm xmlns:a="http://schemas.openxmlformats.org/drawingml/2006/main">
            <a:off x="762000" y="7343775"/>
            <a:ext cx="13716000" cy="533400"/>
          </a:xfrm>
          <a:prstGeom xmlns:a="http://schemas.openxmlformats.org/drawingml/2006/main" prst="rect">
            <a:avLst/>
          </a:prstGeom>
          <a:solidFill xmlns:a="http://schemas.openxmlformats.org/drawingml/2006/main">
            <a:srgbClr val="B6E65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5EE262-FC60-407C-82CC-05B5A8DA8F9F}"/>
              </a:ext>
            </a:extLst>
          </p:cNvPr>
          <p:cNvSpPr>
            <a:spLocks xmlns:a="http://schemas.openxmlformats.org/drawingml/2006/main" noGrp="1"/>
          </p:cNvSpPr>
          <p:nvPr/>
        </p:nvSpPr>
        <p:spPr>
          <a:xfrm xmlns:a="http://schemas.openxmlformats.org/drawingml/2006/main">
            <a:off x="952500" y="74676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250" b="1">
                <a:solidFill>
                  <a:srgbClr val="172819"/>
                </a:solidFill>
                <a:latin typeface="Arial"/>
                <a:ea typeface="Arial"/>
                <a:cs typeface="Arial"/>
              </a:defRPr>
            </a:pPr>
            <a:r>
              <a:rPr sz="2250" b="1">
                <a:solidFill>
                  <a:srgbClr val="172819"/>
                </a:solidFill>
                <a:latin typeface="Arial"/>
                <a:ea typeface="Arial"/>
                <a:cs typeface="Arial"/>
              </a:rPr>
              <a:t>Next: implement the interpreter against these 14 examples.</a:t>
            </a:r>
          </a:p>
        </p:txBody>
      </p:sp>
      <p:sp>
        <p:nvSpPr>
          <p:cNvPr id="18" name="">
            <a:extLst xmlns:a="http://schemas.openxmlformats.org/drawingml/2006/main">
              <a:ext uri="{FF2B5EF4-FFF2-40B4-BE49-F238E27FC236}">
                <a16:creationId xmlns:a16="http://schemas.microsoft.com/office/drawing/2014/main" id="{D72863E5-F0B6-47BB-A68C-8BB68255A95A}"/>
              </a:ext>
            </a:extLst>
          </p:cNvPr>
          <p:cNvSpPr>
            <a:spLocks xmlns:a="http://schemas.openxmlformats.org/drawingml/2006/main" noGrp="1"/>
          </p:cNvSpPr>
          <p:nvPr/>
        </p:nvSpPr>
        <p:spPr>
          <a:xfrm xmlns:a="http://schemas.openxmlformats.org/drawingml/2006/main">
            <a:off x="762000" y="712470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buNone/>
              <a:defRPr sz="2100" b="0">
                <a:solidFill>
                  <a:srgbClr val="586850"/>
                </a:solidFill>
                <a:latin typeface="Arial"/>
                <a:ea typeface="Arial"/>
                <a:cs typeface="Arial"/>
              </a:defRPr>
            </a:pPr>
            <a:r>
              <a:rPr sz="2100" b="0">
                <a:solidFill>
                  <a:srgbClr val="586850"/>
                </a:solidFill>
                <a:latin typeface="Arial"/>
                <a:ea typeface="Arial"/>
                <a:cs typeface="Arial"/>
              </a:rPr>
              <a:t/>
            </a:r>
          </a:p>
        </p:txBody>
      </p:sp>
    </p:spTree>
    <p:extLst>
      <p:ext uri="{BB962C8B-B14F-4D97-AF65-F5344CB8AC3E}">
        <p14:creationId xmlns:p14="http://schemas.microsoft.com/office/powerpoint/2010/main" val="490478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2026-09-08T12:28:17.7430000Z</dcterms:created>
  <dcterms:modified xsi:type="dcterms:W3CDTF">2026-09-08T12:28:17.7430000Z</dcterms:modified>
</coreProperties>
</file>